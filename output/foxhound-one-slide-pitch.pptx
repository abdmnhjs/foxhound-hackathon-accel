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121e2233eb4629" /><Relationship Type="http://schemas.openxmlformats.org/officeDocument/2006/relationships/extended-properties" Target="/docProps/app.xml" Id="R989f6d0d01e94798" /><Relationship Type="http://schemas.openxmlformats.org/officeDocument/2006/relationships/officeDocument" Target="/ppt/presentation.xml" Id="R203ecc256033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2af43ba523439f"/>
  </p:sldMasterIdLst>
  <p:notesMasterIdLst>
    <p:notesMasterId xmlns:r="http://schemas.openxmlformats.org/officeDocument/2006/relationships" r:id="Rc530516cb0da4d70"/>
  </p:notesMasterIdLst>
  <p:sldIdLst>
    <p:sldId xmlns:r="http://schemas.openxmlformats.org/officeDocument/2006/relationships" id="256" r:id="R6d11765613984e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10376ebc434487" /><Relationship Type="http://schemas.openxmlformats.org/officeDocument/2006/relationships/slideMaster" Target="/ppt/slideMasters/slideMaster1.xml" Id="R292af43ba523439f" /><Relationship Type="http://schemas.openxmlformats.org/officeDocument/2006/relationships/notesMaster" Target="/ppt/notesMasters/notesMaster1.xml" Id="Rc530516cb0da4d70" /><Relationship Type="http://schemas.openxmlformats.org/officeDocument/2006/relationships/presProps" Target="/ppt/presProps.xml" Id="Rf39fd34c29f34732" /><Relationship Type="http://schemas.openxmlformats.org/officeDocument/2006/relationships/tableStyles" Target="/ppt/tableStyles.xml" Id="R4b6b849de6ae47eb" /><Relationship Type="http://schemas.openxmlformats.org/officeDocument/2006/relationships/slide" Target="/ppt/slides/slide1.xml" Id="R6d11765613984e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327981002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c4812850b46d3" /><Relationship Type="http://schemas.openxmlformats.org/officeDocument/2006/relationships/notesMaster" Target="/ppt/notesMasters/notesMaster1.xml" Id="Rbb811b4c025a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421bc6ffe42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e394657134a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fe684f5a546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6be5d5a5142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0062c0c004d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3b8fa6162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6B05C0-4C2C-4D8A-8BB4-A8CEA3EB7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20944B-5445-4344-A57D-A54C650ED5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056650-CAD6-41DA-9C15-08108CD44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1911A8-592B-4CEA-94A8-A30A818A9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FCD5B4-4BCD-4B6B-8203-6A9D1B577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EBED5E-5F72-41C0-99A9-0387F4A5B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D9669F-DF12-4AB7-99F6-F7B018D13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20C37E-31AA-4BC2-9FCB-37D4098CEE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A09785-52F0-493D-8FC2-908661A7F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70B337-5A08-4AC9-80B4-258862DC5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e79d4f6bf14266" /><Relationship Type="http://schemas.openxmlformats.org/officeDocument/2006/relationships/slideLayout" Target="/ppt/slideLayouts/slideLayout1.xml" Id="R5cffd4ee695d43fb" /><Relationship Type="http://schemas.openxmlformats.org/officeDocument/2006/relationships/slideLayout" Target="/ppt/slideLayouts/slideLayout2.xml" Id="Rb0195d291bb64799" /><Relationship Type="http://schemas.openxmlformats.org/officeDocument/2006/relationships/slideLayout" Target="/ppt/slideLayouts/slideLayout3.xml" Id="R671d20b3f19f4bd2" /><Relationship Type="http://schemas.openxmlformats.org/officeDocument/2006/relationships/slideLayout" Target="/ppt/slideLayouts/slideLayout4.xml" Id="Rb2aef78a2b594439" /><Relationship Type="http://schemas.openxmlformats.org/officeDocument/2006/relationships/slideLayout" Target="/ppt/slideLayouts/slideLayout5.xml" Id="R4d1ffd7ad2434083" /><Relationship Type="http://schemas.openxmlformats.org/officeDocument/2006/relationships/slideLayout" Target="/ppt/slideLayouts/slideLayout6.xml" Id="R44561ee6c4bb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fd4ee695d43fb"/>
    <p:sldLayoutId xmlns:r="http://schemas.openxmlformats.org/officeDocument/2006/relationships" id="2147483650" r:id="Rb0195d291bb64799"/>
    <p:sldLayoutId xmlns:r="http://schemas.openxmlformats.org/officeDocument/2006/relationships" id="2147483651" r:id="R671d20b3f19f4bd2"/>
    <p:sldLayoutId xmlns:r="http://schemas.openxmlformats.org/officeDocument/2006/relationships" id="2147483652" r:id="Rb2aef78a2b594439"/>
    <p:sldLayoutId xmlns:r="http://schemas.openxmlformats.org/officeDocument/2006/relationships" id="2147483653" r:id="R4d1ffd7ad2434083"/>
    <p:sldLayoutId xmlns:r="http://schemas.openxmlformats.org/officeDocument/2006/relationships" id="2147483654" r:id="R44561ee6c4bb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73fd1afbd4007" /><Relationship Type="http://schemas.openxmlformats.org/officeDocument/2006/relationships/notesSlide" Target="/ppt/notesSlides/notesSlide1.xml" Id="R0014e803ef3542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">
            <a:extLst xmlns:a="http://schemas.openxmlformats.org/drawingml/2006/main">
              <a:ext uri="{FF2B5EF4-FFF2-40B4-BE49-F238E27FC236}">
                <a16:creationId xmlns:a16="http://schemas.microsoft.com/office/drawing/2014/main" id="{C3CBFCA3-202A-4114-90A4-D0635A2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FOXHOUND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833ABA-462F-4418-8012-DBF67B9D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8FAFC"/>
                </a:solidFill>
              </a:defRPr>
            </a:defPPr>
            <a:lvl1pPr algn="l">
              <a:defRPr sz="2850" b="1">
                <a:solidFill>
                  <a:srgbClr val="F8FAFC"/>
                </a:solidFill>
              </a:defRPr>
            </a:lvl1pPr>
            <a:lvl2pPr algn="l">
              <a:defRPr sz="2850" b="1">
                <a:solidFill>
                  <a:srgbClr val="F8FAFC"/>
                </a:solidFill>
              </a:defRPr>
            </a:lvl2pPr>
            <a:lvl3pPr algn="l">
              <a:defRPr sz="2850" b="1">
                <a:solidFill>
                  <a:srgbClr val="F8FAFC"/>
                </a:solidFill>
              </a:defRPr>
            </a:lvl3pPr>
            <a:lvl4pPr algn="l">
              <a:defRPr sz="2850" b="1">
                <a:solidFill>
                  <a:srgbClr val="F8FAFC"/>
                </a:solidFill>
              </a:defRPr>
            </a:lvl4pPr>
            <a:lvl5pPr algn="l">
              <a:defRPr sz="2850" b="1">
                <a:solidFill>
                  <a:srgbClr val="F8FAFC"/>
                </a:solidFill>
              </a:defRPr>
            </a:lvl5pPr>
            <a:lvl6pPr algn="l">
              <a:defRPr sz="2850" b="1">
                <a:solidFill>
                  <a:srgbClr val="F8FAFC"/>
                </a:solidFill>
              </a:defRPr>
            </a:lvl6pPr>
            <a:lvl7pPr algn="l">
              <a:defRPr sz="2850" b="1">
                <a:solidFill>
                  <a:srgbClr val="F8FAFC"/>
                </a:solidFill>
              </a:defRPr>
            </a:lvl7pPr>
            <a:lvl8pPr algn="l">
              <a:defRPr sz="2850" b="1">
                <a:solidFill>
                  <a:srgbClr val="F8FAFC"/>
                </a:solidFill>
              </a:defRPr>
            </a:lvl8pPr>
            <a:lvl9pPr algn="l">
              <a:defRPr sz="28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Customer feedback, prioritized for founders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17ADB79-0338-41CA-93B3-8D80E0A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A8B3C7"/>
                </a:solidFill>
              </a:defRPr>
            </a:defPPr>
            <a:lvl1pPr algn="l">
              <a:defRPr sz="1500" b="0">
                <a:solidFill>
                  <a:srgbClr val="A8B3C7"/>
                </a:solidFill>
              </a:defRPr>
            </a:lvl1pPr>
            <a:lvl2pPr algn="l">
              <a:defRPr sz="1500" b="0">
                <a:solidFill>
                  <a:srgbClr val="A8B3C7"/>
                </a:solidFill>
              </a:defRPr>
            </a:lvl2pPr>
            <a:lvl3pPr algn="l">
              <a:defRPr sz="1500" b="0">
                <a:solidFill>
                  <a:srgbClr val="A8B3C7"/>
                </a:solidFill>
              </a:defRPr>
            </a:lvl3pPr>
            <a:lvl4pPr algn="l">
              <a:defRPr sz="1500" b="0">
                <a:solidFill>
                  <a:srgbClr val="A8B3C7"/>
                </a:solidFill>
              </a:defRPr>
            </a:lvl4pPr>
            <a:lvl5pPr algn="l">
              <a:defRPr sz="1500" b="0">
                <a:solidFill>
                  <a:srgbClr val="A8B3C7"/>
                </a:solidFill>
              </a:defRPr>
            </a:lvl5pPr>
            <a:lvl6pPr algn="l">
              <a:defRPr sz="1500" b="0">
                <a:solidFill>
                  <a:srgbClr val="A8B3C7"/>
                </a:solidFill>
              </a:defRPr>
            </a:lvl6pPr>
            <a:lvl7pPr algn="l">
              <a:defRPr sz="1500" b="0">
                <a:solidFill>
                  <a:srgbClr val="A8B3C7"/>
                </a:solidFill>
              </a:defRPr>
            </a:lvl7pPr>
            <a:lvl8pPr algn="l">
              <a:defRPr sz="1500" b="0">
                <a:solidFill>
                  <a:srgbClr val="A8B3C7"/>
                </a:solidFill>
              </a:defRPr>
            </a:lvl8pPr>
            <a:lvl9pPr algn="l">
              <a:defRPr sz="150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From raw comments to clear product decisions</a:t>
            </a:r>
          </a:p>
        </p:txBody>
      </p:sp>
      <p:sp>
        <p:nvSpPr>
          <p:cNvPr id="4" name="pitch-tag">
            <a:extLst xmlns:a="http://schemas.openxmlformats.org/drawingml/2006/main">
              <a:ext uri="{FF2B5EF4-FFF2-40B4-BE49-F238E27FC236}">
                <a16:creationId xmlns:a16="http://schemas.microsoft.com/office/drawing/2014/main" id="{7EF8F17F-2B2D-423D-846D-A89FB07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720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5" name="pitch-tag-text">
            <a:extLst xmlns:a="http://schemas.openxmlformats.org/drawingml/2006/main">
              <a:ext uri="{FF2B5EF4-FFF2-40B4-BE49-F238E27FC236}">
                <a16:creationId xmlns:a16="http://schemas.microsoft.com/office/drawing/2014/main" id="{F75CEDCE-97D3-48C1-9486-440F23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29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9111F"/>
                </a:solidFill>
              </a:defRPr>
            </a:defPPr>
            <a:lvl1pPr algn="ctr">
              <a:defRPr sz="900" b="1">
                <a:solidFill>
                  <a:srgbClr val="09111F"/>
                </a:solidFill>
              </a:defRPr>
            </a:lvl1pPr>
            <a:lvl2pPr algn="ctr">
              <a:defRPr sz="900" b="1">
                <a:solidFill>
                  <a:srgbClr val="09111F"/>
                </a:solidFill>
              </a:defRPr>
            </a:lvl2pPr>
            <a:lvl3pPr algn="ctr">
              <a:defRPr sz="900" b="1">
                <a:solidFill>
                  <a:srgbClr val="09111F"/>
                </a:solidFill>
              </a:defRPr>
            </a:lvl3pPr>
            <a:lvl4pPr algn="ctr">
              <a:defRPr sz="900" b="1">
                <a:solidFill>
                  <a:srgbClr val="09111F"/>
                </a:solidFill>
              </a:defRPr>
            </a:lvl4pPr>
            <a:lvl5pPr algn="ctr">
              <a:defRPr sz="900" b="1">
                <a:solidFill>
                  <a:srgbClr val="09111F"/>
                </a:solidFill>
              </a:defRPr>
            </a:lvl5pPr>
            <a:lvl6pPr algn="ctr">
              <a:defRPr sz="900" b="1">
                <a:solidFill>
                  <a:srgbClr val="09111F"/>
                </a:solidFill>
              </a:defRPr>
            </a:lvl6pPr>
            <a:lvl7pPr algn="ctr">
              <a:defRPr sz="900" b="1">
                <a:solidFill>
                  <a:srgbClr val="09111F"/>
                </a:solidFill>
              </a:defRPr>
            </a:lvl7pPr>
            <a:lvl8pPr algn="ctr">
              <a:defRPr sz="900" b="1">
                <a:solidFill>
                  <a:srgbClr val="09111F"/>
                </a:solidFill>
              </a:defRPr>
            </a:lvl8pPr>
            <a:lvl9pPr algn="ctr">
              <a:defRPr sz="900" b="1">
                <a:solidFill>
                  <a:srgbClr val="09111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9111F"/>
                </a:solidFill>
              </a:defRPr>
            </a:pPr>
            <a:r>
              <a:rPr sz="900" b="1">
                <a:solidFill>
                  <a:srgbClr val="09111F"/>
                </a:solidFill>
              </a:rPr>
              <a:t>ONE-SLIDE PITCH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7D990688-8620-4B14-A3B5-2327B65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B923C"/>
                </a:solidFill>
              </a:defRPr>
            </a:defPPr>
            <a:lvl1pPr algn="l">
              <a:defRPr sz="1125" b="1">
                <a:solidFill>
                  <a:srgbClr val="FB923C"/>
                </a:solidFill>
              </a:defRPr>
            </a:lvl1pPr>
            <a:lvl2pPr algn="l">
              <a:defRPr sz="1125" b="1">
                <a:solidFill>
                  <a:srgbClr val="FB923C"/>
                </a:solidFill>
              </a:defRPr>
            </a:lvl2pPr>
            <a:lvl3pPr algn="l">
              <a:defRPr sz="1125" b="1">
                <a:solidFill>
                  <a:srgbClr val="FB923C"/>
                </a:solidFill>
              </a:defRPr>
            </a:lvl3pPr>
            <a:lvl4pPr algn="l">
              <a:defRPr sz="1125" b="1">
                <a:solidFill>
                  <a:srgbClr val="FB923C"/>
                </a:solidFill>
              </a:defRPr>
            </a:lvl4pPr>
            <a:lvl5pPr algn="l">
              <a:defRPr sz="1125" b="1">
                <a:solidFill>
                  <a:srgbClr val="FB923C"/>
                </a:solidFill>
              </a:defRPr>
            </a:lvl5pPr>
            <a:lvl6pPr algn="l">
              <a:defRPr sz="1125" b="1">
                <a:solidFill>
                  <a:srgbClr val="FB923C"/>
                </a:solidFill>
              </a:defRPr>
            </a:lvl6pPr>
            <a:lvl7pPr algn="l">
              <a:defRPr sz="1125" b="1">
                <a:solidFill>
                  <a:srgbClr val="FB923C"/>
                </a:solidFill>
              </a:defRPr>
            </a:lvl7pPr>
            <a:lvl8pPr algn="l">
              <a:defRPr sz="1125" b="1">
                <a:solidFill>
                  <a:srgbClr val="FB923C"/>
                </a:solidFill>
              </a:defRPr>
            </a:lvl8pPr>
            <a:lvl9pPr algn="l">
              <a:defRPr sz="1125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B923C"/>
                </a:solidFill>
              </a:defRPr>
            </a:pPr>
            <a:r>
              <a:rPr sz="1125" b="1">
                <a:solidFill>
                  <a:srgbClr val="FB923C"/>
                </a:solidFill>
              </a:rPr>
              <a:t>BEFORE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BB1CB8E0-837B-4CD6-B261-AFFCFBF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8FAFC"/>
                </a:solidFill>
              </a:defRPr>
            </a:defPPr>
            <a:lvl1pPr algn="l">
              <a:defRPr sz="1875" b="1">
                <a:solidFill>
                  <a:srgbClr val="F8FAFC"/>
                </a:solidFill>
              </a:defRPr>
            </a:lvl1pPr>
            <a:lvl2pPr algn="l">
              <a:defRPr sz="1875" b="1">
                <a:solidFill>
                  <a:srgbClr val="F8FAFC"/>
                </a:solidFill>
              </a:defRPr>
            </a:lvl2pPr>
            <a:lvl3pPr algn="l">
              <a:defRPr sz="1875" b="1">
                <a:solidFill>
                  <a:srgbClr val="F8FAFC"/>
                </a:solidFill>
              </a:defRPr>
            </a:lvl3pPr>
            <a:lvl4pPr algn="l">
              <a:defRPr sz="1875" b="1">
                <a:solidFill>
                  <a:srgbClr val="F8FAFC"/>
                </a:solidFill>
              </a:defRPr>
            </a:lvl4pPr>
            <a:lvl5pPr algn="l">
              <a:defRPr sz="1875" b="1">
                <a:solidFill>
                  <a:srgbClr val="F8FAFC"/>
                </a:solidFill>
              </a:defRPr>
            </a:lvl5pPr>
            <a:lvl6pPr algn="l">
              <a:defRPr sz="1875" b="1">
                <a:solidFill>
                  <a:srgbClr val="F8FAFC"/>
                </a:solidFill>
              </a:defRPr>
            </a:lvl6pPr>
            <a:lvl7pPr algn="l">
              <a:defRPr sz="1875" b="1">
                <a:solidFill>
                  <a:srgbClr val="F8FAFC"/>
                </a:solidFill>
              </a:defRPr>
            </a:lvl7pPr>
            <a:lvl8pPr algn="l">
              <a:defRPr sz="1875" b="1">
                <a:solidFill>
                  <a:srgbClr val="F8FAFC"/>
                </a:solidFill>
              </a:defRPr>
            </a:lvl8pPr>
            <a:lvl9pPr algn="l">
              <a:defRPr sz="18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A chronological inbox</a:t>
            </a:r>
          </a:p>
        </p:txBody>
      </p:sp>
      <p:sp>
        <p:nvSpPr>
          <p:cNvPr id="8" name="raw-feedback">
            <a:extLst xmlns:a="http://schemas.openxmlformats.org/drawingml/2006/main">
              <a:ext uri="{FF2B5EF4-FFF2-40B4-BE49-F238E27FC236}">
                <a16:creationId xmlns:a16="http://schemas.microsoft.com/office/drawing/2014/main" id="{365B4A0B-58E3-4AF7-9967-5A86D58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CBD5E1"/>
                </a:solidFill>
              </a:defRPr>
            </a:defPPr>
            <a:lvl1pPr algn="l">
              <a:defRPr sz="1425" b="0">
                <a:solidFill>
                  <a:srgbClr val="CBD5E1"/>
                </a:solidFill>
              </a:defRPr>
            </a:lvl1pPr>
            <a:lvl2pPr algn="l">
              <a:defRPr sz="1425" b="0">
                <a:solidFill>
                  <a:srgbClr val="CBD5E1"/>
                </a:solidFill>
              </a:defRPr>
            </a:lvl2pPr>
            <a:lvl3pPr algn="l">
              <a:defRPr sz="1425" b="0">
                <a:solidFill>
                  <a:srgbClr val="CBD5E1"/>
                </a:solidFill>
              </a:defRPr>
            </a:lvl3pPr>
            <a:lvl4pPr algn="l">
              <a:defRPr sz="1425" b="0">
                <a:solidFill>
                  <a:srgbClr val="CBD5E1"/>
                </a:solidFill>
              </a:defRPr>
            </a:lvl4pPr>
            <a:lvl5pPr algn="l">
              <a:defRPr sz="1425" b="0">
                <a:solidFill>
                  <a:srgbClr val="CBD5E1"/>
                </a:solidFill>
              </a:defRPr>
            </a:lvl5pPr>
            <a:lvl6pPr algn="l">
              <a:defRPr sz="1425" b="0">
                <a:solidFill>
                  <a:srgbClr val="CBD5E1"/>
                </a:solidFill>
              </a:defRPr>
            </a:lvl6pPr>
            <a:lvl7pPr algn="l">
              <a:defRPr sz="1425" b="0">
                <a:solidFill>
                  <a:srgbClr val="CBD5E1"/>
                </a:solidFill>
              </a:defRPr>
            </a:lvl7pPr>
            <a:lvl8pPr algn="l">
              <a:defRPr sz="1425" b="0">
                <a:solidFill>
                  <a:srgbClr val="CBD5E1"/>
                </a:solidFill>
              </a:defRPr>
            </a:lvl8pPr>
            <a:lvl9pPr algn="l">
              <a:defRPr sz="14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“The dashboard is slow.”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“Can I export to CSV?”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“Please add dark mode.”</a:t>
            </a:r>
          </a:p>
        </p:txBody>
      </p:sp>
      <p:sp>
        <p:nvSpPr>
          <p:cNvPr id="9" name="baseline">
            <a:extLst xmlns:a="http://schemas.openxmlformats.org/drawingml/2006/main">
              <a:ext uri="{FF2B5EF4-FFF2-40B4-BE49-F238E27FC236}">
                <a16:creationId xmlns:a16="http://schemas.microsoft.com/office/drawing/2014/main" id="{51A34CC1-F328-4A17-9BB0-76E4F47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8391A8"/>
                </a:solidFill>
              </a:defRPr>
            </a:defPPr>
            <a:lvl1pPr algn="l">
              <a:defRPr sz="1275" b="0">
                <a:solidFill>
                  <a:srgbClr val="8391A8"/>
                </a:solidFill>
              </a:defRPr>
            </a:lvl1pPr>
            <a:lvl2pPr algn="l">
              <a:defRPr sz="1275" b="0">
                <a:solidFill>
                  <a:srgbClr val="8391A8"/>
                </a:solidFill>
              </a:defRPr>
            </a:lvl2pPr>
            <a:lvl3pPr algn="l">
              <a:defRPr sz="1275" b="0">
                <a:solidFill>
                  <a:srgbClr val="8391A8"/>
                </a:solidFill>
              </a:defRPr>
            </a:lvl3pPr>
            <a:lvl4pPr algn="l">
              <a:defRPr sz="1275" b="0">
                <a:solidFill>
                  <a:srgbClr val="8391A8"/>
                </a:solidFill>
              </a:defRPr>
            </a:lvl4pPr>
            <a:lvl5pPr algn="l">
              <a:defRPr sz="1275" b="0">
                <a:solidFill>
                  <a:srgbClr val="8391A8"/>
                </a:solidFill>
              </a:defRPr>
            </a:lvl5pPr>
            <a:lvl6pPr algn="l">
              <a:defRPr sz="1275" b="0">
                <a:solidFill>
                  <a:srgbClr val="8391A8"/>
                </a:solidFill>
              </a:defRPr>
            </a:lvl6pPr>
            <a:lvl7pPr algn="l">
              <a:defRPr sz="1275" b="0">
                <a:solidFill>
                  <a:srgbClr val="8391A8"/>
                </a:solidFill>
              </a:defRPr>
            </a:lvl7pPr>
            <a:lvl8pPr algn="l">
              <a:defRPr sz="1275" b="0">
                <a:solidFill>
                  <a:srgbClr val="8391A8"/>
                </a:solidFill>
              </a:defRPr>
            </a:lvl8pPr>
            <a:lvl9pPr algn="l">
              <a:defRPr sz="1275" b="0">
                <a:solidFill>
                  <a:srgbClr val="8391A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8391A8"/>
                </a:solidFill>
              </a:defRPr>
            </a:pPr>
            <a:r>
              <a:rPr sz="1275" b="0">
                <a:solidFill>
                  <a:srgbClr val="8391A8"/>
                </a:solidFill>
              </a:rPr>
              <a:t>Every comment requires manual review. Related signals remain separated.</a:t>
            </a:r>
          </a:p>
        </p:txBody>
      </p:sp>
      <p:sp>
        <p:nvSpPr>
          <p:cNvPr id="10" name="data-layer">
            <a:extLst xmlns:a="http://schemas.openxmlformats.org/drawingml/2006/main">
              <a:ext uri="{FF2B5EF4-FFF2-40B4-BE49-F238E27FC236}">
                <a16:creationId xmlns:a16="http://schemas.microsoft.com/office/drawing/2014/main" id="{075772AD-0C26-459D-9FD9-0D26AE4B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66900"/>
            <a:ext cx="44386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01C30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11" name="data-label">
            <a:extLst xmlns:a="http://schemas.openxmlformats.org/drawingml/2006/main">
              <a:ext uri="{FF2B5EF4-FFF2-40B4-BE49-F238E27FC236}">
                <a16:creationId xmlns:a16="http://schemas.microsoft.com/office/drawing/2014/main" id="{D1C5AC4A-6355-4A31-8796-9E7858F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THE DATA LAYER IN ACTION</a:t>
            </a:r>
          </a:p>
        </p:txBody>
      </p:sp>
      <p:sp>
        <p:nvSpPr>
          <p:cNvPr id="12" name="data-title">
            <a:extLst xmlns:a="http://schemas.openxmlformats.org/drawingml/2006/main">
              <a:ext uri="{FF2B5EF4-FFF2-40B4-BE49-F238E27FC236}">
                <a16:creationId xmlns:a16="http://schemas.microsoft.com/office/drawing/2014/main" id="{8296485B-3C69-4500-A896-A3BD097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98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8FAFC"/>
                </a:solidFill>
              </a:defRPr>
            </a:defPPr>
            <a:lvl1pPr algn="l">
              <a:defRPr sz="2025" b="1">
                <a:solidFill>
                  <a:srgbClr val="F8FAFC"/>
                </a:solidFill>
              </a:defRPr>
            </a:lvl1pPr>
            <a:lvl2pPr algn="l">
              <a:defRPr sz="2025" b="1">
                <a:solidFill>
                  <a:srgbClr val="F8FAFC"/>
                </a:solidFill>
              </a:defRPr>
            </a:lvl2pPr>
            <a:lvl3pPr algn="l">
              <a:defRPr sz="2025" b="1">
                <a:solidFill>
                  <a:srgbClr val="F8FAFC"/>
                </a:solidFill>
              </a:defRPr>
            </a:lvl3pPr>
            <a:lvl4pPr algn="l">
              <a:defRPr sz="2025" b="1">
                <a:solidFill>
                  <a:srgbClr val="F8FAFC"/>
                </a:solidFill>
              </a:defRPr>
            </a:lvl4pPr>
            <a:lvl5pPr algn="l">
              <a:defRPr sz="2025" b="1">
                <a:solidFill>
                  <a:srgbClr val="F8FAFC"/>
                </a:solidFill>
              </a:defRPr>
            </a:lvl5pPr>
            <a:lvl6pPr algn="l">
              <a:defRPr sz="2025" b="1">
                <a:solidFill>
                  <a:srgbClr val="F8FAFC"/>
                </a:solidFill>
              </a:defRPr>
            </a:lvl6pPr>
            <a:lvl7pPr algn="l">
              <a:defRPr sz="2025" b="1">
                <a:solidFill>
                  <a:srgbClr val="F8FAFC"/>
                </a:solidFill>
              </a:defRPr>
            </a:lvl7pPr>
            <a:lvl8pPr algn="l">
              <a:defRPr sz="2025" b="1">
                <a:solidFill>
                  <a:srgbClr val="F8FAFC"/>
                </a:solidFill>
              </a:defRPr>
            </a:lvl8pPr>
            <a:lvl9pPr algn="l">
              <a:defRPr sz="20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The same batch becomes structured evidence</a:t>
            </a:r>
          </a:p>
        </p:txBody>
      </p:sp>
      <p:sp>
        <p:nvSpPr>
          <p:cNvPr id="13" name="step-01">
            <a:extLst xmlns:a="http://schemas.openxmlformats.org/drawingml/2006/main">
              <a:ext uri="{FF2B5EF4-FFF2-40B4-BE49-F238E27FC236}">
                <a16:creationId xmlns:a16="http://schemas.microsoft.com/office/drawing/2014/main" id="{E57AFA3C-82A0-4377-AE9A-8C960B6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81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01</a:t>
            </a:r>
          </a:p>
        </p:txBody>
      </p:sp>
      <p:sp>
        <p:nvSpPr>
          <p:cNvPr id="14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9405A8A0-0AAC-47C8-9D10-56F8905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PostgreSQL</a:t>
            </a:r>
          </a:p>
        </p:txBody>
      </p:sp>
      <p:sp>
        <p:nvSpPr>
          <p:cNvPr id="15" name="step-detail-01">
            <a:extLst xmlns:a="http://schemas.openxmlformats.org/drawingml/2006/main">
              <a:ext uri="{FF2B5EF4-FFF2-40B4-BE49-F238E27FC236}">
                <a16:creationId xmlns:a16="http://schemas.microsoft.com/office/drawing/2014/main" id="{FF8A1498-3366-48D6-9B11-68959920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813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Raw feedback stays stored</a:t>
            </a:r>
          </a:p>
        </p:txBody>
      </p:sp>
      <p:sp>
        <p:nvSpPr>
          <p:cNvPr id="16" name="step-02">
            <a:extLst xmlns:a="http://schemas.openxmlformats.org/drawingml/2006/main">
              <a:ext uri="{FF2B5EF4-FFF2-40B4-BE49-F238E27FC236}">
                <a16:creationId xmlns:a16="http://schemas.microsoft.com/office/drawing/2014/main" id="{69F3F49A-1978-4AEA-8C1D-7CD50B8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19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02</a:t>
            </a:r>
          </a:p>
        </p:txBody>
      </p:sp>
      <p:sp>
        <p:nvSpPr>
          <p:cNvPr id="17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B79F43FC-32F6-4EF4-BCC4-56503DC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0045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Data</a:t>
            </a:r>
          </a:p>
        </p:txBody>
      </p:sp>
      <p:sp>
        <p:nvSpPr>
          <p:cNvPr id="18" name="step-detail-02">
            <a:extLst xmlns:a="http://schemas.openxmlformats.org/drawingml/2006/main">
              <a:ext uri="{FF2B5EF4-FFF2-40B4-BE49-F238E27FC236}">
                <a16:creationId xmlns:a16="http://schemas.microsoft.com/office/drawing/2014/main" id="{57689115-D472-49CE-BF74-24875BE9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195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Clean, normalize, validate</a:t>
            </a:r>
          </a:p>
        </p:txBody>
      </p:sp>
      <p:sp>
        <p:nvSpPr>
          <p:cNvPr id="19" name="step-03">
            <a:extLst xmlns:a="http://schemas.openxmlformats.org/drawingml/2006/main">
              <a:ext uri="{FF2B5EF4-FFF2-40B4-BE49-F238E27FC236}">
                <a16:creationId xmlns:a16="http://schemas.microsoft.com/office/drawing/2014/main" id="{7CEE73AD-F47F-4DEE-998E-91312327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576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03</a:t>
            </a:r>
          </a:p>
        </p:txBody>
      </p:sp>
      <p:sp>
        <p:nvSpPr>
          <p:cNvPr id="20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4F22E5AF-4F36-4C0C-9B1F-FBD9F5A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386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AI</a:t>
            </a:r>
          </a:p>
        </p:txBody>
      </p:sp>
      <p:sp>
        <p:nvSpPr>
          <p:cNvPr id="21" name="step-detail-03">
            <a:extLst xmlns:a="http://schemas.openxmlformats.org/drawingml/2006/main">
              <a:ext uri="{FF2B5EF4-FFF2-40B4-BE49-F238E27FC236}">
                <a16:creationId xmlns:a16="http://schemas.microsoft.com/office/drawing/2014/main" id="{EF6340C0-8E6C-420B-81A8-6B353AA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Cluster, summarize, score</a:t>
            </a:r>
          </a:p>
        </p:txBody>
      </p:sp>
      <p:sp>
        <p:nvSpPr>
          <p:cNvPr id="22" name="step-04">
            <a:extLst xmlns:a="http://schemas.openxmlformats.org/drawingml/2006/main">
              <a:ext uri="{FF2B5EF4-FFF2-40B4-BE49-F238E27FC236}">
                <a16:creationId xmlns:a16="http://schemas.microsoft.com/office/drawing/2014/main" id="{9F02A745-4B46-47A8-86E2-03415ECC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04</a:t>
            </a:r>
          </a:p>
        </p:txBody>
      </p:sp>
      <p:sp>
        <p:nvSpPr>
          <p:cNvPr id="23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55C14420-DD0D-432A-B6AB-3035AD2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7675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Dashboard</a:t>
            </a:r>
          </a:p>
        </p:txBody>
      </p:sp>
      <p:sp>
        <p:nvSpPr>
          <p:cNvPr id="24" name="step-detail-04">
            <a:extLst xmlns:a="http://schemas.openxmlformats.org/drawingml/2006/main">
              <a:ext uri="{FF2B5EF4-FFF2-40B4-BE49-F238E27FC236}">
                <a16:creationId xmlns:a16="http://schemas.microsoft.com/office/drawing/2014/main" id="{7F7E9E6B-7E6A-4FAC-A159-1DB181B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Ranked themes for review</a:t>
            </a:r>
          </a:p>
        </p:txBody>
      </p:sp>
      <p:sp>
        <p:nvSpPr>
          <p:cNvPr id="25" name="evidence">
            <a:extLst xmlns:a="http://schemas.openxmlformats.org/drawingml/2006/main">
              <a:ext uri="{FF2B5EF4-FFF2-40B4-BE49-F238E27FC236}">
                <a16:creationId xmlns:a16="http://schemas.microsoft.com/office/drawing/2014/main" id="{722DA03E-2011-41B2-9D0E-9299982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91075"/>
            <a:ext cx="3790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DE5F0"/>
                </a:solidFill>
              </a:defRPr>
            </a:defPPr>
            <a:lvl1pPr algn="l">
              <a:defRPr sz="1125" b="0">
                <a:solidFill>
                  <a:srgbClr val="DDE5F0"/>
                </a:solidFill>
              </a:defRPr>
            </a:lvl1pPr>
            <a:lvl2pPr algn="l">
              <a:defRPr sz="1125" b="0">
                <a:solidFill>
                  <a:srgbClr val="DDE5F0"/>
                </a:solidFill>
              </a:defRPr>
            </a:lvl2pPr>
            <a:lvl3pPr algn="l">
              <a:defRPr sz="1125" b="0">
                <a:solidFill>
                  <a:srgbClr val="DDE5F0"/>
                </a:solidFill>
              </a:defRPr>
            </a:lvl3pPr>
            <a:lvl4pPr algn="l">
              <a:defRPr sz="1125" b="0">
                <a:solidFill>
                  <a:srgbClr val="DDE5F0"/>
                </a:solidFill>
              </a:defRPr>
            </a:lvl4pPr>
            <a:lvl5pPr algn="l">
              <a:defRPr sz="1125" b="0">
                <a:solidFill>
                  <a:srgbClr val="DDE5F0"/>
                </a:solidFill>
              </a:defRPr>
            </a:lvl5pPr>
            <a:lvl6pPr algn="l">
              <a:defRPr sz="1125" b="0">
                <a:solidFill>
                  <a:srgbClr val="DDE5F0"/>
                </a:solidFill>
              </a:defRPr>
            </a:lvl6pPr>
            <a:lvl7pPr algn="l">
              <a:defRPr sz="1125" b="0">
                <a:solidFill>
                  <a:srgbClr val="DDE5F0"/>
                </a:solidFill>
              </a:defRPr>
            </a:lvl7pPr>
            <a:lvl8pPr algn="l">
              <a:defRPr sz="1125" b="0">
                <a:solidFill>
                  <a:srgbClr val="DDE5F0"/>
                </a:solidFill>
              </a:defRPr>
            </a:lvl8pPr>
            <a:lvl9pPr algn="l">
              <a:defRPr sz="1125" b="0">
                <a:solidFill>
                  <a:srgbClr val="DDE5F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DE5F0"/>
                </a:solidFill>
              </a:defRPr>
            </a:pPr>
            <a:r>
              <a:rPr sz="1125" b="0">
                <a:solidFill>
                  <a:srgbClr val="DDE5F0"/>
                </a:solidFill>
              </a:rPr>
              <a:t>Evidence: every feedback ID must appear exactly once. Invalid service responses are rejected, and raw submissions survive downstream failures.</a:t>
            </a:r>
          </a:p>
        </p:txBody>
      </p:sp>
      <p:sp>
        <p:nvSpPr>
          <p:cNvPr id="26" name="who-label">
            <a:extLst xmlns:a="http://schemas.openxmlformats.org/drawingml/2006/main">
              <a:ext uri="{FF2B5EF4-FFF2-40B4-BE49-F238E27FC236}">
                <a16:creationId xmlns:a16="http://schemas.microsoft.com/office/drawing/2014/main" id="{B8D4DC72-4B34-4309-B76B-71CBC331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WHO</a:t>
            </a:r>
          </a:p>
        </p:txBody>
      </p:sp>
      <p:sp>
        <p:nvSpPr>
          <p:cNvPr id="27" name="who-copy">
            <a:extLst xmlns:a="http://schemas.openxmlformats.org/drawingml/2006/main">
              <a:ext uri="{FF2B5EF4-FFF2-40B4-BE49-F238E27FC236}">
                <a16:creationId xmlns:a16="http://schemas.microsoft.com/office/drawing/2014/main" id="{55D78A41-699A-4C35-BE26-32A8BD0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8FAFC"/>
                </a:solidFill>
              </a:defRPr>
            </a:defPPr>
            <a:lvl1pPr algn="l">
              <a:defRPr sz="1725" b="1">
                <a:solidFill>
                  <a:srgbClr val="F8FAFC"/>
                </a:solidFill>
              </a:defRPr>
            </a:lvl1pPr>
            <a:lvl2pPr algn="l">
              <a:defRPr sz="1725" b="1">
                <a:solidFill>
                  <a:srgbClr val="F8FAFC"/>
                </a:solidFill>
              </a:defRPr>
            </a:lvl2pPr>
            <a:lvl3pPr algn="l">
              <a:defRPr sz="1725" b="1">
                <a:solidFill>
                  <a:srgbClr val="F8FAFC"/>
                </a:solidFill>
              </a:defRPr>
            </a:lvl3pPr>
            <a:lvl4pPr algn="l">
              <a:defRPr sz="1725" b="1">
                <a:solidFill>
                  <a:srgbClr val="F8FAFC"/>
                </a:solidFill>
              </a:defRPr>
            </a:lvl4pPr>
            <a:lvl5pPr algn="l">
              <a:defRPr sz="1725" b="1">
                <a:solidFill>
                  <a:srgbClr val="F8FAFC"/>
                </a:solidFill>
              </a:defRPr>
            </a:lvl5pPr>
            <a:lvl6pPr algn="l">
              <a:defRPr sz="1725" b="1">
                <a:solidFill>
                  <a:srgbClr val="F8FAFC"/>
                </a:solidFill>
              </a:defRPr>
            </a:lvl6pPr>
            <a:lvl7pPr algn="l">
              <a:defRPr sz="1725" b="1">
                <a:solidFill>
                  <a:srgbClr val="F8FAFC"/>
                </a:solidFill>
              </a:defRPr>
            </a:lvl7pPr>
            <a:lvl8pPr algn="l">
              <a:defRPr sz="1725" b="1">
                <a:solidFill>
                  <a:srgbClr val="F8FAFC"/>
                </a:solidFill>
              </a:defRPr>
            </a:lvl8pPr>
            <a:lvl9pPr algn="l">
              <a:defRPr sz="17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Founder-led SaaS teams drowning in scattered customer feedback</a:t>
            </a:r>
          </a:p>
        </p:txBody>
      </p:sp>
      <p:sp>
        <p:nvSpPr>
          <p:cNvPr id="28" name="why-label">
            <a:extLst xmlns:a="http://schemas.openxmlformats.org/drawingml/2006/main">
              <a:ext uri="{FF2B5EF4-FFF2-40B4-BE49-F238E27FC236}">
                <a16:creationId xmlns:a16="http://schemas.microsoft.com/office/drawing/2014/main" id="{3BC446E6-22FC-47BF-923C-98B2942A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WHY NOW</a:t>
            </a:r>
          </a:p>
        </p:txBody>
      </p:sp>
      <p:sp>
        <p:nvSpPr>
          <p:cNvPr id="29" name="why-copy">
            <a:extLst xmlns:a="http://schemas.openxmlformats.org/drawingml/2006/main">
              <a:ext uri="{FF2B5EF4-FFF2-40B4-BE49-F238E27FC236}">
                <a16:creationId xmlns:a16="http://schemas.microsoft.com/office/drawing/2014/main" id="{CACEA516-5DD5-4798-8B37-434CFD48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AI makes analysis affordable. Structured data and explainable scoring make the output usable.</a:t>
            </a:r>
          </a:p>
        </p:txBody>
      </p:sp>
      <p:sp>
        <p:nvSpPr>
          <p:cNvPr id="30" name="gtm-label">
            <a:extLst xmlns:a="http://schemas.openxmlformats.org/drawingml/2006/main">
              <a:ext uri="{FF2B5EF4-FFF2-40B4-BE49-F238E27FC236}">
                <a16:creationId xmlns:a16="http://schemas.microsoft.com/office/drawing/2014/main" id="{57C9DE0D-7198-4344-9C61-391B1AF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67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FIRST USERS</a:t>
            </a:r>
          </a:p>
        </p:txBody>
      </p:sp>
      <p:sp>
        <p:nvSpPr>
          <p:cNvPr id="31" name="gtm-copy">
            <a:extLst xmlns:a="http://schemas.openxmlformats.org/drawingml/2006/main">
              <a:ext uri="{FF2B5EF4-FFF2-40B4-BE49-F238E27FC236}">
                <a16:creationId xmlns:a16="http://schemas.microsoft.com/office/drawing/2014/main" id="{B4D5FFA7-9362-4F33-8994-A14E685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Recruit 5 SaaS founders through accelerators and founder communities. Import their latest feedback, then run weekly review sessions.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75F7A68-D3D5-4A82-9ADA-B792E078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3853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33" name="pitch-line">
            <a:extLst xmlns:a="http://schemas.openxmlformats.org/drawingml/2006/main">
              <a:ext uri="{FF2B5EF4-FFF2-40B4-BE49-F238E27FC236}">
                <a16:creationId xmlns:a16="http://schemas.microsoft.com/office/drawing/2014/main" id="{337E792B-CDAA-4DCB-A373-235FFC3C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8FAFC"/>
                </a:solidFill>
              </a:defRPr>
            </a:defPPr>
            <a:lvl1pPr algn="l">
              <a:defRPr sz="1650" b="1">
                <a:solidFill>
                  <a:srgbClr val="F8FAFC"/>
                </a:solidFill>
              </a:defRPr>
            </a:lvl1pPr>
            <a:lvl2pPr algn="l">
              <a:defRPr sz="1650" b="1">
                <a:solidFill>
                  <a:srgbClr val="F8FAFC"/>
                </a:solidFill>
              </a:defRPr>
            </a:lvl2pPr>
            <a:lvl3pPr algn="l">
              <a:defRPr sz="1650" b="1">
                <a:solidFill>
                  <a:srgbClr val="F8FAFC"/>
                </a:solidFill>
              </a:defRPr>
            </a:lvl3pPr>
            <a:lvl4pPr algn="l">
              <a:defRPr sz="1650" b="1">
                <a:solidFill>
                  <a:srgbClr val="F8FAFC"/>
                </a:solidFill>
              </a:defRPr>
            </a:lvl4pPr>
            <a:lvl5pPr algn="l">
              <a:defRPr sz="1650" b="1">
                <a:solidFill>
                  <a:srgbClr val="F8FAFC"/>
                </a:solidFill>
              </a:defRPr>
            </a:lvl5pPr>
            <a:lvl6pPr algn="l">
              <a:defRPr sz="1650" b="1">
                <a:solidFill>
                  <a:srgbClr val="F8FAFC"/>
                </a:solidFill>
              </a:defRPr>
            </a:lvl6pPr>
            <a:lvl7pPr algn="l">
              <a:defRPr sz="1650" b="1">
                <a:solidFill>
                  <a:srgbClr val="F8FAFC"/>
                </a:solidFill>
              </a:defRPr>
            </a:lvl7pPr>
            <a:lvl8pPr algn="l">
              <a:defRPr sz="1650" b="1">
                <a:solidFill>
                  <a:srgbClr val="F8FAFC"/>
                </a:solidFill>
              </a:defRPr>
            </a:lvl8pPr>
            <a:lvl9pPr algn="l">
              <a:defRPr sz="16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Foxhound turns raw customer feedback into clear, prioritized insights founders can act on.</a:t>
            </a:r>
          </a:p>
        </p:txBody>
      </p:sp>
      <p:sp>
        <p:nvSpPr>
          <p:cNvPr id="34" name="disclosure">
            <a:extLst xmlns:a="http://schemas.openxmlformats.org/drawingml/2006/main">
              <a:ext uri="{FF2B5EF4-FFF2-40B4-BE49-F238E27FC236}">
                <a16:creationId xmlns:a16="http://schemas.microsoft.com/office/drawing/2014/main" id="{67400EBB-C4CE-4559-944E-D4DEC12F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5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718096"/>
                </a:solidFill>
              </a:defRPr>
            </a:defPPr>
            <a:lvl1pPr algn="r">
              <a:defRPr sz="900" b="0">
                <a:solidFill>
                  <a:srgbClr val="718096"/>
                </a:solidFill>
              </a:defRPr>
            </a:lvl1pPr>
            <a:lvl2pPr algn="r">
              <a:defRPr sz="900" b="0">
                <a:solidFill>
                  <a:srgbClr val="718096"/>
                </a:solidFill>
              </a:defRPr>
            </a:lvl2pPr>
            <a:lvl3pPr algn="r">
              <a:defRPr sz="900" b="0">
                <a:solidFill>
                  <a:srgbClr val="718096"/>
                </a:solidFill>
              </a:defRPr>
            </a:lvl3pPr>
            <a:lvl4pPr algn="r">
              <a:defRPr sz="900" b="0">
                <a:solidFill>
                  <a:srgbClr val="718096"/>
                </a:solidFill>
              </a:defRPr>
            </a:lvl4pPr>
            <a:lvl5pPr algn="r">
              <a:defRPr sz="900" b="0">
                <a:solidFill>
                  <a:srgbClr val="718096"/>
                </a:solidFill>
              </a:defRPr>
            </a:lvl5pPr>
            <a:lvl6pPr algn="r">
              <a:defRPr sz="900" b="0">
                <a:solidFill>
                  <a:srgbClr val="718096"/>
                </a:solidFill>
              </a:defRPr>
            </a:lvl6pPr>
            <a:lvl7pPr algn="r">
              <a:defRPr sz="900" b="0">
                <a:solidFill>
                  <a:srgbClr val="718096"/>
                </a:solidFill>
              </a:defRPr>
            </a:lvl7pPr>
            <a:lvl8pPr algn="r">
              <a:defRPr sz="900" b="0">
                <a:solidFill>
                  <a:srgbClr val="718096"/>
                </a:solidFill>
              </a:defRPr>
            </a:lvl8pPr>
            <a:lvl9pPr algn="r">
              <a:defRPr sz="900" b="0">
                <a:solidFill>
                  <a:srgbClr val="718096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Go-to-market plan is proposed</a:t>
            </a:r>
          </a:p>
        </p:txBody>
      </p:sp>
    </p:spTree>
    <p:extLst>
      <p:ext uri="{BB962C8B-B14F-4D97-AF65-F5344CB8AC3E}">
        <p14:creationId xmlns:p14="http://schemas.microsoft.com/office/powerpoint/2010/main" val="642390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2026-10-22T13:28:30.7290000Z</dcterms:created>
  <dcterms:modified xsi:type="dcterms:W3CDTF">2026-10-22T13:28:30.7300000Z</dcterms:modified>
</coreProperties>
</file>