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e98cb90b64343" /><Relationship Type="http://schemas.openxmlformats.org/officeDocument/2006/relationships/extended-properties" Target="/docProps/app.xml" Id="R221084de776c4687" /><Relationship Type="http://schemas.openxmlformats.org/officeDocument/2006/relationships/officeDocument" Target="/ppt/presentation.xml" Id="R127e7984fa5a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f365f542b4d02"/>
  </p:sldMasterIdLst>
  <p:notesMasterIdLst>
    <p:notesMasterId xmlns:r="http://schemas.openxmlformats.org/officeDocument/2006/relationships" r:id="R071b6f38da354ba3"/>
  </p:notesMasterIdLst>
  <p:sldIdLst>
    <p:sldId xmlns:r="http://schemas.openxmlformats.org/officeDocument/2006/relationships" id="256" r:id="R9875604d22174d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218300fdbb4bf2" /><Relationship Type="http://schemas.openxmlformats.org/officeDocument/2006/relationships/slideMaster" Target="/ppt/slideMasters/slideMaster1.xml" Id="Rcdef365f542b4d02" /><Relationship Type="http://schemas.openxmlformats.org/officeDocument/2006/relationships/notesMaster" Target="/ppt/notesMasters/notesMaster1.xml" Id="R071b6f38da354ba3" /><Relationship Type="http://schemas.openxmlformats.org/officeDocument/2006/relationships/presProps" Target="/ppt/presProps.xml" Id="R7590f779be494ac5" /><Relationship Type="http://schemas.openxmlformats.org/officeDocument/2006/relationships/tableStyles" Target="/ppt/tableStyles.xml" Id="R1dfb69839ca347ba" /><Relationship Type="http://schemas.openxmlformats.org/officeDocument/2006/relationships/slide" Target="/ppt/slides/slide1.xml" Id="R9875604d22174d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0c2094e59b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ee2b221694859" /><Relationship Type="http://schemas.openxmlformats.org/officeDocument/2006/relationships/notesMaster" Target="/ppt/notesMasters/notesMaster1.xml" Id="Rf3ed641cd79b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c13dc312c41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f5e73269e44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6ef12908e42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d0a55102c4e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f0143e0d746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5062f762b4b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41FA20-8242-45D2-A5E0-7F65AB3EC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719F1A-A406-4D0B-970C-8639D5B6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6FA2D3-41B7-4315-A4A9-52FBD00F4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868041-662E-4F3A-8BE6-47AF61540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50259F-9EC5-46F6-8239-16A3497F0E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A58F00-83B0-4574-ACE9-3BC572B36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25A213-1393-4800-A410-AEF0E9D018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B85B20-55EB-45F4-A134-7BF37120BF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4C77CF-D1F1-4C7E-9A4B-938C76785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F71B1A-B997-4C6B-B11D-08CF6DEB2E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c42716a064692" /><Relationship Type="http://schemas.openxmlformats.org/officeDocument/2006/relationships/slideLayout" Target="/ppt/slideLayouts/slideLayout1.xml" Id="R14483ec1934b47a5" /><Relationship Type="http://schemas.openxmlformats.org/officeDocument/2006/relationships/slideLayout" Target="/ppt/slideLayouts/slideLayout2.xml" Id="Rd1a859c299794885" /><Relationship Type="http://schemas.openxmlformats.org/officeDocument/2006/relationships/slideLayout" Target="/ppt/slideLayouts/slideLayout3.xml" Id="Rffcd4e0ab11b404b" /><Relationship Type="http://schemas.openxmlformats.org/officeDocument/2006/relationships/slideLayout" Target="/ppt/slideLayouts/slideLayout4.xml" Id="R3840381a0fbb4f10" /><Relationship Type="http://schemas.openxmlformats.org/officeDocument/2006/relationships/slideLayout" Target="/ppt/slideLayouts/slideLayout5.xml" Id="R6d8be769390a4c71" /><Relationship Type="http://schemas.openxmlformats.org/officeDocument/2006/relationships/slideLayout" Target="/ppt/slideLayouts/slideLayout6.xml" Id="R404a98e0f17c40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83ec1934b47a5"/>
    <p:sldLayoutId xmlns:r="http://schemas.openxmlformats.org/officeDocument/2006/relationships" id="2147483650" r:id="Rd1a859c299794885"/>
    <p:sldLayoutId xmlns:r="http://schemas.openxmlformats.org/officeDocument/2006/relationships" id="2147483651" r:id="Rffcd4e0ab11b404b"/>
    <p:sldLayoutId xmlns:r="http://schemas.openxmlformats.org/officeDocument/2006/relationships" id="2147483652" r:id="R3840381a0fbb4f10"/>
    <p:sldLayoutId xmlns:r="http://schemas.openxmlformats.org/officeDocument/2006/relationships" id="2147483653" r:id="R6d8be769390a4c71"/>
    <p:sldLayoutId xmlns:r="http://schemas.openxmlformats.org/officeDocument/2006/relationships" id="2147483654" r:id="R404a98e0f17c40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c58e1e0954bbb" /><Relationship Type="http://schemas.openxmlformats.org/officeDocument/2006/relationships/notesSlide" Target="/ppt/notesSlides/notesSlide1.xml" Id="Rf6c364463dda4e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rand">
            <a:extLst xmlns:a="http://schemas.openxmlformats.org/drawingml/2006/main">
              <a:ext uri="{FF2B5EF4-FFF2-40B4-BE49-F238E27FC236}">
                <a16:creationId xmlns:a16="http://schemas.microsoft.com/office/drawing/2014/main" id="{82FE6C1C-0CA7-4E37-8B4F-3EFD8238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FOXHOUND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701E6A-F332-47B9-8BD7-7B342775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8FAFC"/>
                </a:solidFill>
              </a:defRPr>
            </a:defPPr>
            <a:lvl1pPr algn="l">
              <a:defRPr sz="2850" b="1">
                <a:solidFill>
                  <a:srgbClr val="F8FAFC"/>
                </a:solidFill>
              </a:defRPr>
            </a:lvl1pPr>
            <a:lvl2pPr algn="l">
              <a:defRPr sz="2850" b="1">
                <a:solidFill>
                  <a:srgbClr val="F8FAFC"/>
                </a:solidFill>
              </a:defRPr>
            </a:lvl2pPr>
            <a:lvl3pPr algn="l">
              <a:defRPr sz="2850" b="1">
                <a:solidFill>
                  <a:srgbClr val="F8FAFC"/>
                </a:solidFill>
              </a:defRPr>
            </a:lvl3pPr>
            <a:lvl4pPr algn="l">
              <a:defRPr sz="2850" b="1">
                <a:solidFill>
                  <a:srgbClr val="F8FAFC"/>
                </a:solidFill>
              </a:defRPr>
            </a:lvl4pPr>
            <a:lvl5pPr algn="l">
              <a:defRPr sz="2850" b="1">
                <a:solidFill>
                  <a:srgbClr val="F8FAFC"/>
                </a:solidFill>
              </a:defRPr>
            </a:lvl5pPr>
            <a:lvl6pPr algn="l">
              <a:defRPr sz="2850" b="1">
                <a:solidFill>
                  <a:srgbClr val="F8FAFC"/>
                </a:solidFill>
              </a:defRPr>
            </a:lvl6pPr>
            <a:lvl7pPr algn="l">
              <a:defRPr sz="2850" b="1">
                <a:solidFill>
                  <a:srgbClr val="F8FAFC"/>
                </a:solidFill>
              </a:defRPr>
            </a:lvl7pPr>
            <a:lvl8pPr algn="l">
              <a:defRPr sz="2850" b="1">
                <a:solidFill>
                  <a:srgbClr val="F8FAFC"/>
                </a:solidFill>
              </a:defRPr>
            </a:lvl8pPr>
            <a:lvl9pPr algn="l">
              <a:defRPr sz="28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Customer feedback, prioritized for founders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90699C8-02D3-4C33-BDE0-0861A4BE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A8B3C7"/>
                </a:solidFill>
              </a:defRPr>
            </a:defPPr>
            <a:lvl1pPr algn="l">
              <a:defRPr sz="1500" b="0">
                <a:solidFill>
                  <a:srgbClr val="A8B3C7"/>
                </a:solidFill>
              </a:defRPr>
            </a:lvl1pPr>
            <a:lvl2pPr algn="l">
              <a:defRPr sz="1500" b="0">
                <a:solidFill>
                  <a:srgbClr val="A8B3C7"/>
                </a:solidFill>
              </a:defRPr>
            </a:lvl2pPr>
            <a:lvl3pPr algn="l">
              <a:defRPr sz="1500" b="0">
                <a:solidFill>
                  <a:srgbClr val="A8B3C7"/>
                </a:solidFill>
              </a:defRPr>
            </a:lvl3pPr>
            <a:lvl4pPr algn="l">
              <a:defRPr sz="1500" b="0">
                <a:solidFill>
                  <a:srgbClr val="A8B3C7"/>
                </a:solidFill>
              </a:defRPr>
            </a:lvl4pPr>
            <a:lvl5pPr algn="l">
              <a:defRPr sz="1500" b="0">
                <a:solidFill>
                  <a:srgbClr val="A8B3C7"/>
                </a:solidFill>
              </a:defRPr>
            </a:lvl5pPr>
            <a:lvl6pPr algn="l">
              <a:defRPr sz="1500" b="0">
                <a:solidFill>
                  <a:srgbClr val="A8B3C7"/>
                </a:solidFill>
              </a:defRPr>
            </a:lvl6pPr>
            <a:lvl7pPr algn="l">
              <a:defRPr sz="1500" b="0">
                <a:solidFill>
                  <a:srgbClr val="A8B3C7"/>
                </a:solidFill>
              </a:defRPr>
            </a:lvl7pPr>
            <a:lvl8pPr algn="l">
              <a:defRPr sz="1500" b="0">
                <a:solidFill>
                  <a:srgbClr val="A8B3C7"/>
                </a:solidFill>
              </a:defRPr>
            </a:lvl8pPr>
            <a:lvl9pPr algn="l">
              <a:defRPr sz="1500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3C7"/>
                </a:solidFill>
              </a:defRPr>
            </a:pPr>
            <a:r>
              <a:rPr sz="1500" b="0">
                <a:solidFill>
                  <a:srgbClr val="A8B3C7"/>
                </a:solidFill>
              </a:rPr>
              <a:t>From raw comments to clear product decisions</a:t>
            </a:r>
          </a:p>
        </p:txBody>
      </p:sp>
      <p:sp>
        <p:nvSpPr>
          <p:cNvPr id="4" name="pitch-tag">
            <a:extLst xmlns:a="http://schemas.openxmlformats.org/drawingml/2006/main">
              <a:ext uri="{FF2B5EF4-FFF2-40B4-BE49-F238E27FC236}">
                <a16:creationId xmlns:a16="http://schemas.microsoft.com/office/drawing/2014/main" id="{6D1EEE3B-71B8-4F91-A1BD-5405D180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7200"/>
            <a:ext cx="1638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923C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5" name="pitch-tag-text">
            <a:extLst xmlns:a="http://schemas.openxmlformats.org/drawingml/2006/main">
              <a:ext uri="{FF2B5EF4-FFF2-40B4-BE49-F238E27FC236}">
                <a16:creationId xmlns:a16="http://schemas.microsoft.com/office/drawing/2014/main" id="{8F7AB9FA-9C6D-4A6E-AB3C-F42272A3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29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9111F"/>
                </a:solidFill>
              </a:defRPr>
            </a:defPPr>
            <a:lvl1pPr algn="ctr">
              <a:defRPr sz="900" b="1">
                <a:solidFill>
                  <a:srgbClr val="09111F"/>
                </a:solidFill>
              </a:defRPr>
            </a:lvl1pPr>
            <a:lvl2pPr algn="ctr">
              <a:defRPr sz="900" b="1">
                <a:solidFill>
                  <a:srgbClr val="09111F"/>
                </a:solidFill>
              </a:defRPr>
            </a:lvl2pPr>
            <a:lvl3pPr algn="ctr">
              <a:defRPr sz="900" b="1">
                <a:solidFill>
                  <a:srgbClr val="09111F"/>
                </a:solidFill>
              </a:defRPr>
            </a:lvl3pPr>
            <a:lvl4pPr algn="ctr">
              <a:defRPr sz="900" b="1">
                <a:solidFill>
                  <a:srgbClr val="09111F"/>
                </a:solidFill>
              </a:defRPr>
            </a:lvl4pPr>
            <a:lvl5pPr algn="ctr">
              <a:defRPr sz="900" b="1">
                <a:solidFill>
                  <a:srgbClr val="09111F"/>
                </a:solidFill>
              </a:defRPr>
            </a:lvl5pPr>
            <a:lvl6pPr algn="ctr">
              <a:defRPr sz="900" b="1">
                <a:solidFill>
                  <a:srgbClr val="09111F"/>
                </a:solidFill>
              </a:defRPr>
            </a:lvl6pPr>
            <a:lvl7pPr algn="ctr">
              <a:defRPr sz="900" b="1">
                <a:solidFill>
                  <a:srgbClr val="09111F"/>
                </a:solidFill>
              </a:defRPr>
            </a:lvl7pPr>
            <a:lvl8pPr algn="ctr">
              <a:defRPr sz="900" b="1">
                <a:solidFill>
                  <a:srgbClr val="09111F"/>
                </a:solidFill>
              </a:defRPr>
            </a:lvl8pPr>
            <a:lvl9pPr algn="ctr">
              <a:defRPr sz="900" b="1">
                <a:solidFill>
                  <a:srgbClr val="09111F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9111F"/>
                </a:solidFill>
              </a:defRPr>
            </a:pPr>
            <a:r>
              <a:rPr sz="900" b="1">
                <a:solidFill>
                  <a:srgbClr val="09111F"/>
                </a:solidFill>
              </a:rPr>
              <a:t>ONE-SLIDE PITCH</a:t>
            </a:r>
          </a:p>
        </p:txBody>
      </p:sp>
      <p:sp>
        <p:nvSpPr>
          <p:cNvPr id="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61A811C2-BE90-42DF-9475-A7E08CB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B923C"/>
                </a:solidFill>
              </a:defRPr>
            </a:defPPr>
            <a:lvl1pPr algn="l">
              <a:defRPr sz="1125" b="1">
                <a:solidFill>
                  <a:srgbClr val="FB923C"/>
                </a:solidFill>
              </a:defRPr>
            </a:lvl1pPr>
            <a:lvl2pPr algn="l">
              <a:defRPr sz="1125" b="1">
                <a:solidFill>
                  <a:srgbClr val="FB923C"/>
                </a:solidFill>
              </a:defRPr>
            </a:lvl2pPr>
            <a:lvl3pPr algn="l">
              <a:defRPr sz="1125" b="1">
                <a:solidFill>
                  <a:srgbClr val="FB923C"/>
                </a:solidFill>
              </a:defRPr>
            </a:lvl3pPr>
            <a:lvl4pPr algn="l">
              <a:defRPr sz="1125" b="1">
                <a:solidFill>
                  <a:srgbClr val="FB923C"/>
                </a:solidFill>
              </a:defRPr>
            </a:lvl4pPr>
            <a:lvl5pPr algn="l">
              <a:defRPr sz="1125" b="1">
                <a:solidFill>
                  <a:srgbClr val="FB923C"/>
                </a:solidFill>
              </a:defRPr>
            </a:lvl5pPr>
            <a:lvl6pPr algn="l">
              <a:defRPr sz="1125" b="1">
                <a:solidFill>
                  <a:srgbClr val="FB923C"/>
                </a:solidFill>
              </a:defRPr>
            </a:lvl6pPr>
            <a:lvl7pPr algn="l">
              <a:defRPr sz="1125" b="1">
                <a:solidFill>
                  <a:srgbClr val="FB923C"/>
                </a:solidFill>
              </a:defRPr>
            </a:lvl7pPr>
            <a:lvl8pPr algn="l">
              <a:defRPr sz="1125" b="1">
                <a:solidFill>
                  <a:srgbClr val="FB923C"/>
                </a:solidFill>
              </a:defRPr>
            </a:lvl8pPr>
            <a:lvl9pPr algn="l">
              <a:defRPr sz="1125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B923C"/>
                </a:solidFill>
              </a:defRPr>
            </a:pPr>
            <a:r>
              <a:rPr sz="1125" b="1">
                <a:solidFill>
                  <a:srgbClr val="FB923C"/>
                </a:solidFill>
              </a:rPr>
              <a:t>BEFORE</a:t>
            </a:r>
          </a:p>
        </p:txBody>
      </p:sp>
      <p:sp>
        <p:nvSpPr>
          <p:cNvPr id="7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63BA3E7B-516B-4689-BA58-F3C4154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8FAFC"/>
                </a:solidFill>
              </a:defRPr>
            </a:defPPr>
            <a:lvl1pPr algn="l">
              <a:defRPr sz="1875" b="1">
                <a:solidFill>
                  <a:srgbClr val="F8FAFC"/>
                </a:solidFill>
              </a:defRPr>
            </a:lvl1pPr>
            <a:lvl2pPr algn="l">
              <a:defRPr sz="1875" b="1">
                <a:solidFill>
                  <a:srgbClr val="F8FAFC"/>
                </a:solidFill>
              </a:defRPr>
            </a:lvl2pPr>
            <a:lvl3pPr algn="l">
              <a:defRPr sz="1875" b="1">
                <a:solidFill>
                  <a:srgbClr val="F8FAFC"/>
                </a:solidFill>
              </a:defRPr>
            </a:lvl3pPr>
            <a:lvl4pPr algn="l">
              <a:defRPr sz="1875" b="1">
                <a:solidFill>
                  <a:srgbClr val="F8FAFC"/>
                </a:solidFill>
              </a:defRPr>
            </a:lvl4pPr>
            <a:lvl5pPr algn="l">
              <a:defRPr sz="1875" b="1">
                <a:solidFill>
                  <a:srgbClr val="F8FAFC"/>
                </a:solidFill>
              </a:defRPr>
            </a:lvl5pPr>
            <a:lvl6pPr algn="l">
              <a:defRPr sz="1875" b="1">
                <a:solidFill>
                  <a:srgbClr val="F8FAFC"/>
                </a:solidFill>
              </a:defRPr>
            </a:lvl6pPr>
            <a:lvl7pPr algn="l">
              <a:defRPr sz="1875" b="1">
                <a:solidFill>
                  <a:srgbClr val="F8FAFC"/>
                </a:solidFill>
              </a:defRPr>
            </a:lvl7pPr>
            <a:lvl8pPr algn="l">
              <a:defRPr sz="1875" b="1">
                <a:solidFill>
                  <a:srgbClr val="F8FAFC"/>
                </a:solidFill>
              </a:defRPr>
            </a:lvl8pPr>
            <a:lvl9pPr algn="l">
              <a:defRPr sz="187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A chronological inbox</a:t>
            </a:r>
          </a:p>
        </p:txBody>
      </p:sp>
      <p:sp>
        <p:nvSpPr>
          <p:cNvPr id="8" name="raw-feedback">
            <a:extLst xmlns:a="http://schemas.openxmlformats.org/drawingml/2006/main">
              <a:ext uri="{FF2B5EF4-FFF2-40B4-BE49-F238E27FC236}">
                <a16:creationId xmlns:a16="http://schemas.microsoft.com/office/drawing/2014/main" id="{142857D0-6806-4305-A3B3-3AFDB894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CBD5E1"/>
                </a:solidFill>
              </a:defRPr>
            </a:defPPr>
            <a:lvl1pPr algn="l">
              <a:defRPr sz="1425" b="0">
                <a:solidFill>
                  <a:srgbClr val="CBD5E1"/>
                </a:solidFill>
              </a:defRPr>
            </a:lvl1pPr>
            <a:lvl2pPr algn="l">
              <a:defRPr sz="1425" b="0">
                <a:solidFill>
                  <a:srgbClr val="CBD5E1"/>
                </a:solidFill>
              </a:defRPr>
            </a:lvl2pPr>
            <a:lvl3pPr algn="l">
              <a:defRPr sz="1425" b="0">
                <a:solidFill>
                  <a:srgbClr val="CBD5E1"/>
                </a:solidFill>
              </a:defRPr>
            </a:lvl3pPr>
            <a:lvl4pPr algn="l">
              <a:defRPr sz="1425" b="0">
                <a:solidFill>
                  <a:srgbClr val="CBD5E1"/>
                </a:solidFill>
              </a:defRPr>
            </a:lvl4pPr>
            <a:lvl5pPr algn="l">
              <a:defRPr sz="1425" b="0">
                <a:solidFill>
                  <a:srgbClr val="CBD5E1"/>
                </a:solidFill>
              </a:defRPr>
            </a:lvl5pPr>
            <a:lvl6pPr algn="l">
              <a:defRPr sz="1425" b="0">
                <a:solidFill>
                  <a:srgbClr val="CBD5E1"/>
                </a:solidFill>
              </a:defRPr>
            </a:lvl6pPr>
            <a:lvl7pPr algn="l">
              <a:defRPr sz="1425" b="0">
                <a:solidFill>
                  <a:srgbClr val="CBD5E1"/>
                </a:solidFill>
              </a:defRPr>
            </a:lvl7pPr>
            <a:lvl8pPr algn="l">
              <a:defRPr sz="1425" b="0">
                <a:solidFill>
                  <a:srgbClr val="CBD5E1"/>
                </a:solidFill>
              </a:defRPr>
            </a:lvl8pPr>
            <a:lvl9pPr algn="l">
              <a:defRPr sz="14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“The dashboard is slow.”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“Can I export to CSV?”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“Please add dark mode.”</a:t>
            </a:r>
          </a:p>
        </p:txBody>
      </p:sp>
      <p:sp>
        <p:nvSpPr>
          <p:cNvPr id="9" name="baseline">
            <a:extLst xmlns:a="http://schemas.openxmlformats.org/drawingml/2006/main">
              <a:ext uri="{FF2B5EF4-FFF2-40B4-BE49-F238E27FC236}">
                <a16:creationId xmlns:a16="http://schemas.microsoft.com/office/drawing/2014/main" id="{D8CE9D3C-A859-40E9-BE69-991927C6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8391A8"/>
                </a:solidFill>
              </a:defRPr>
            </a:defPPr>
            <a:lvl1pPr algn="l">
              <a:defRPr sz="1275" b="0">
                <a:solidFill>
                  <a:srgbClr val="8391A8"/>
                </a:solidFill>
              </a:defRPr>
            </a:lvl1pPr>
            <a:lvl2pPr algn="l">
              <a:defRPr sz="1275" b="0">
                <a:solidFill>
                  <a:srgbClr val="8391A8"/>
                </a:solidFill>
              </a:defRPr>
            </a:lvl2pPr>
            <a:lvl3pPr algn="l">
              <a:defRPr sz="1275" b="0">
                <a:solidFill>
                  <a:srgbClr val="8391A8"/>
                </a:solidFill>
              </a:defRPr>
            </a:lvl3pPr>
            <a:lvl4pPr algn="l">
              <a:defRPr sz="1275" b="0">
                <a:solidFill>
                  <a:srgbClr val="8391A8"/>
                </a:solidFill>
              </a:defRPr>
            </a:lvl4pPr>
            <a:lvl5pPr algn="l">
              <a:defRPr sz="1275" b="0">
                <a:solidFill>
                  <a:srgbClr val="8391A8"/>
                </a:solidFill>
              </a:defRPr>
            </a:lvl5pPr>
            <a:lvl6pPr algn="l">
              <a:defRPr sz="1275" b="0">
                <a:solidFill>
                  <a:srgbClr val="8391A8"/>
                </a:solidFill>
              </a:defRPr>
            </a:lvl6pPr>
            <a:lvl7pPr algn="l">
              <a:defRPr sz="1275" b="0">
                <a:solidFill>
                  <a:srgbClr val="8391A8"/>
                </a:solidFill>
              </a:defRPr>
            </a:lvl7pPr>
            <a:lvl8pPr algn="l">
              <a:defRPr sz="1275" b="0">
                <a:solidFill>
                  <a:srgbClr val="8391A8"/>
                </a:solidFill>
              </a:defRPr>
            </a:lvl8pPr>
            <a:lvl9pPr algn="l">
              <a:defRPr sz="1275" b="0">
                <a:solidFill>
                  <a:srgbClr val="8391A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8391A8"/>
                </a:solidFill>
              </a:defRPr>
            </a:pPr>
            <a:r>
              <a:rPr sz="1275" b="0">
                <a:solidFill>
                  <a:srgbClr val="8391A8"/>
                </a:solidFill>
              </a:rPr>
              <a:t>Every comment requires manual review. Related signals remain separated.</a:t>
            </a:r>
          </a:p>
        </p:txBody>
      </p:sp>
      <p:sp>
        <p:nvSpPr>
          <p:cNvPr id="10" name="data-layer">
            <a:extLst xmlns:a="http://schemas.openxmlformats.org/drawingml/2006/main">
              <a:ext uri="{FF2B5EF4-FFF2-40B4-BE49-F238E27FC236}">
                <a16:creationId xmlns:a16="http://schemas.microsoft.com/office/drawing/2014/main" id="{78250398-6A8F-496B-995D-F707F8A8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66900"/>
            <a:ext cx="44386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1C30"/>
          </a:solidFill>
          <a:ln xmlns:a="http://schemas.openxmlformats.org/drawingml/2006/main" w="9525">
            <a:solidFill>
              <a:srgbClr val="263853"/>
            </a:solidFill>
            <a:prstDash val="solid"/>
          </a:ln>
        </p:spPr>
      </p:sp>
      <p:sp>
        <p:nvSpPr>
          <p:cNvPr id="11" name="data-label">
            <a:extLst xmlns:a="http://schemas.openxmlformats.org/drawingml/2006/main">
              <a:ext uri="{FF2B5EF4-FFF2-40B4-BE49-F238E27FC236}">
                <a16:creationId xmlns:a16="http://schemas.microsoft.com/office/drawing/2014/main" id="{27A3E585-B3CB-49CD-A123-F817F75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THE DATA LAYER IN ACTION</a:t>
            </a:r>
          </a:p>
        </p:txBody>
      </p:sp>
      <p:sp>
        <p:nvSpPr>
          <p:cNvPr id="12" name="data-title">
            <a:extLst xmlns:a="http://schemas.openxmlformats.org/drawingml/2006/main">
              <a:ext uri="{FF2B5EF4-FFF2-40B4-BE49-F238E27FC236}">
                <a16:creationId xmlns:a16="http://schemas.microsoft.com/office/drawing/2014/main" id="{82CC80D1-3FB4-43C2-AB67-091776E9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98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8FAFC"/>
                </a:solidFill>
              </a:defRPr>
            </a:defPPr>
            <a:lvl1pPr algn="l">
              <a:defRPr sz="2025" b="1">
                <a:solidFill>
                  <a:srgbClr val="F8FAFC"/>
                </a:solidFill>
              </a:defRPr>
            </a:lvl1pPr>
            <a:lvl2pPr algn="l">
              <a:defRPr sz="2025" b="1">
                <a:solidFill>
                  <a:srgbClr val="F8FAFC"/>
                </a:solidFill>
              </a:defRPr>
            </a:lvl2pPr>
            <a:lvl3pPr algn="l">
              <a:defRPr sz="2025" b="1">
                <a:solidFill>
                  <a:srgbClr val="F8FAFC"/>
                </a:solidFill>
              </a:defRPr>
            </a:lvl3pPr>
            <a:lvl4pPr algn="l">
              <a:defRPr sz="2025" b="1">
                <a:solidFill>
                  <a:srgbClr val="F8FAFC"/>
                </a:solidFill>
              </a:defRPr>
            </a:lvl4pPr>
            <a:lvl5pPr algn="l">
              <a:defRPr sz="2025" b="1">
                <a:solidFill>
                  <a:srgbClr val="F8FAFC"/>
                </a:solidFill>
              </a:defRPr>
            </a:lvl5pPr>
            <a:lvl6pPr algn="l">
              <a:defRPr sz="2025" b="1">
                <a:solidFill>
                  <a:srgbClr val="F8FAFC"/>
                </a:solidFill>
              </a:defRPr>
            </a:lvl6pPr>
            <a:lvl7pPr algn="l">
              <a:defRPr sz="2025" b="1">
                <a:solidFill>
                  <a:srgbClr val="F8FAFC"/>
                </a:solidFill>
              </a:defRPr>
            </a:lvl7pPr>
            <a:lvl8pPr algn="l">
              <a:defRPr sz="2025" b="1">
                <a:solidFill>
                  <a:srgbClr val="F8FAFC"/>
                </a:solidFill>
              </a:defRPr>
            </a:lvl8pPr>
            <a:lvl9pPr algn="l">
              <a:defRPr sz="202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The same batch becomes structured evidence</a:t>
            </a:r>
          </a:p>
        </p:txBody>
      </p:sp>
      <p:sp>
        <p:nvSpPr>
          <p:cNvPr id="13" name="step-01">
            <a:extLst xmlns:a="http://schemas.openxmlformats.org/drawingml/2006/main">
              <a:ext uri="{FF2B5EF4-FFF2-40B4-BE49-F238E27FC236}">
                <a16:creationId xmlns:a16="http://schemas.microsoft.com/office/drawing/2014/main" id="{AD035177-3974-4066-82D7-FA6170F0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81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01</a:t>
            </a:r>
          </a:p>
        </p:txBody>
      </p:sp>
      <p:sp>
        <p:nvSpPr>
          <p:cNvPr id="14" name="step-label-01">
            <a:extLst xmlns:a="http://schemas.openxmlformats.org/drawingml/2006/main">
              <a:ext uri="{FF2B5EF4-FFF2-40B4-BE49-F238E27FC236}">
                <a16:creationId xmlns:a16="http://schemas.microsoft.com/office/drawing/2014/main" id="{119C61B6-40F8-4D35-8F2A-33DA176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8FAFC"/>
                </a:solidFill>
              </a:defRPr>
            </a:defPPr>
            <a:lvl1pPr algn="l">
              <a:defRPr sz="1275" b="1">
                <a:solidFill>
                  <a:srgbClr val="F8FAFC"/>
                </a:solidFill>
              </a:defRPr>
            </a:lvl1pPr>
            <a:lvl2pPr algn="l">
              <a:defRPr sz="1275" b="1">
                <a:solidFill>
                  <a:srgbClr val="F8FAFC"/>
                </a:solidFill>
              </a:defRPr>
            </a:lvl2pPr>
            <a:lvl3pPr algn="l">
              <a:defRPr sz="1275" b="1">
                <a:solidFill>
                  <a:srgbClr val="F8FAFC"/>
                </a:solidFill>
              </a:defRPr>
            </a:lvl3pPr>
            <a:lvl4pPr algn="l">
              <a:defRPr sz="1275" b="1">
                <a:solidFill>
                  <a:srgbClr val="F8FAFC"/>
                </a:solidFill>
              </a:defRPr>
            </a:lvl4pPr>
            <a:lvl5pPr algn="l">
              <a:defRPr sz="1275" b="1">
                <a:solidFill>
                  <a:srgbClr val="F8FAFC"/>
                </a:solidFill>
              </a:defRPr>
            </a:lvl5pPr>
            <a:lvl6pPr algn="l">
              <a:defRPr sz="1275" b="1">
                <a:solidFill>
                  <a:srgbClr val="F8FAFC"/>
                </a:solidFill>
              </a:defRPr>
            </a:lvl6pPr>
            <a:lvl7pPr algn="l">
              <a:defRPr sz="1275" b="1">
                <a:solidFill>
                  <a:srgbClr val="F8FAFC"/>
                </a:solidFill>
              </a:defRPr>
            </a:lvl7pPr>
            <a:lvl8pPr algn="l">
              <a:defRPr sz="1275" b="1">
                <a:solidFill>
                  <a:srgbClr val="F8FAFC"/>
                </a:solidFill>
              </a:defRPr>
            </a:lvl8pPr>
            <a:lvl9pPr algn="l">
              <a:defRPr sz="127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PostgreSQL</a:t>
            </a:r>
          </a:p>
        </p:txBody>
      </p:sp>
      <p:sp>
        <p:nvSpPr>
          <p:cNvPr id="15" name="step-detail-01">
            <a:extLst xmlns:a="http://schemas.openxmlformats.org/drawingml/2006/main">
              <a:ext uri="{FF2B5EF4-FFF2-40B4-BE49-F238E27FC236}">
                <a16:creationId xmlns:a16="http://schemas.microsoft.com/office/drawing/2014/main" id="{454C566D-5758-462F-9BC6-FF1BDEE9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813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A8B3C7"/>
                </a:solidFill>
              </a:defRPr>
            </a:defPPr>
            <a:lvl1pPr algn="l">
              <a:defRPr sz="1050" b="0">
                <a:solidFill>
                  <a:srgbClr val="A8B3C7"/>
                </a:solidFill>
              </a:defRPr>
            </a:lvl1pPr>
            <a:lvl2pPr algn="l">
              <a:defRPr sz="1050" b="0">
                <a:solidFill>
                  <a:srgbClr val="A8B3C7"/>
                </a:solidFill>
              </a:defRPr>
            </a:lvl2pPr>
            <a:lvl3pPr algn="l">
              <a:defRPr sz="1050" b="0">
                <a:solidFill>
                  <a:srgbClr val="A8B3C7"/>
                </a:solidFill>
              </a:defRPr>
            </a:lvl3pPr>
            <a:lvl4pPr algn="l">
              <a:defRPr sz="1050" b="0">
                <a:solidFill>
                  <a:srgbClr val="A8B3C7"/>
                </a:solidFill>
              </a:defRPr>
            </a:lvl4pPr>
            <a:lvl5pPr algn="l">
              <a:defRPr sz="1050" b="0">
                <a:solidFill>
                  <a:srgbClr val="A8B3C7"/>
                </a:solidFill>
              </a:defRPr>
            </a:lvl5pPr>
            <a:lvl6pPr algn="l">
              <a:defRPr sz="1050" b="0">
                <a:solidFill>
                  <a:srgbClr val="A8B3C7"/>
                </a:solidFill>
              </a:defRPr>
            </a:lvl6pPr>
            <a:lvl7pPr algn="l">
              <a:defRPr sz="1050" b="0">
                <a:solidFill>
                  <a:srgbClr val="A8B3C7"/>
                </a:solidFill>
              </a:defRPr>
            </a:lvl7pPr>
            <a:lvl8pPr algn="l">
              <a:defRPr sz="1050" b="0">
                <a:solidFill>
                  <a:srgbClr val="A8B3C7"/>
                </a:solidFill>
              </a:defRPr>
            </a:lvl8pPr>
            <a:lvl9pPr algn="l">
              <a:defRPr sz="1050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8B3C7"/>
                </a:solidFill>
              </a:defRPr>
            </a:pPr>
            <a:r>
              <a:rPr sz="1050" b="0">
                <a:solidFill>
                  <a:srgbClr val="A8B3C7"/>
                </a:solidFill>
              </a:rPr>
              <a:t>Raw feedback stays stored</a:t>
            </a:r>
          </a:p>
        </p:txBody>
      </p:sp>
      <p:sp>
        <p:nvSpPr>
          <p:cNvPr id="16" name="step-02">
            <a:extLst xmlns:a="http://schemas.openxmlformats.org/drawingml/2006/main">
              <a:ext uri="{FF2B5EF4-FFF2-40B4-BE49-F238E27FC236}">
                <a16:creationId xmlns:a16="http://schemas.microsoft.com/office/drawing/2014/main" id="{4EAB0FC5-D331-4FEC-B273-A9BAFDE6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19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02</a:t>
            </a:r>
          </a:p>
        </p:txBody>
      </p:sp>
      <p:sp>
        <p:nvSpPr>
          <p:cNvPr id="17" name="step-label-02">
            <a:extLst xmlns:a="http://schemas.openxmlformats.org/drawingml/2006/main">
              <a:ext uri="{FF2B5EF4-FFF2-40B4-BE49-F238E27FC236}">
                <a16:creationId xmlns:a16="http://schemas.microsoft.com/office/drawing/2014/main" id="{9F4F817B-9395-4448-8468-E89450E1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004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8FAFC"/>
                </a:solidFill>
              </a:defRPr>
            </a:defPPr>
            <a:lvl1pPr algn="l">
              <a:defRPr sz="1275" b="1">
                <a:solidFill>
                  <a:srgbClr val="F8FAFC"/>
                </a:solidFill>
              </a:defRPr>
            </a:lvl1pPr>
            <a:lvl2pPr algn="l">
              <a:defRPr sz="1275" b="1">
                <a:solidFill>
                  <a:srgbClr val="F8FAFC"/>
                </a:solidFill>
              </a:defRPr>
            </a:lvl2pPr>
            <a:lvl3pPr algn="l">
              <a:defRPr sz="1275" b="1">
                <a:solidFill>
                  <a:srgbClr val="F8FAFC"/>
                </a:solidFill>
              </a:defRPr>
            </a:lvl3pPr>
            <a:lvl4pPr algn="l">
              <a:defRPr sz="1275" b="1">
                <a:solidFill>
                  <a:srgbClr val="F8FAFC"/>
                </a:solidFill>
              </a:defRPr>
            </a:lvl4pPr>
            <a:lvl5pPr algn="l">
              <a:defRPr sz="1275" b="1">
                <a:solidFill>
                  <a:srgbClr val="F8FAFC"/>
                </a:solidFill>
              </a:defRPr>
            </a:lvl5pPr>
            <a:lvl6pPr algn="l">
              <a:defRPr sz="1275" b="1">
                <a:solidFill>
                  <a:srgbClr val="F8FAFC"/>
                </a:solidFill>
              </a:defRPr>
            </a:lvl6pPr>
            <a:lvl7pPr algn="l">
              <a:defRPr sz="1275" b="1">
                <a:solidFill>
                  <a:srgbClr val="F8FAFC"/>
                </a:solidFill>
              </a:defRPr>
            </a:lvl7pPr>
            <a:lvl8pPr algn="l">
              <a:defRPr sz="1275" b="1">
                <a:solidFill>
                  <a:srgbClr val="F8FAFC"/>
                </a:solidFill>
              </a:defRPr>
            </a:lvl8pPr>
            <a:lvl9pPr algn="l">
              <a:defRPr sz="127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Data</a:t>
            </a:r>
          </a:p>
        </p:txBody>
      </p:sp>
      <p:sp>
        <p:nvSpPr>
          <p:cNvPr id="18" name="step-detail-02">
            <a:extLst xmlns:a="http://schemas.openxmlformats.org/drawingml/2006/main">
              <a:ext uri="{FF2B5EF4-FFF2-40B4-BE49-F238E27FC236}">
                <a16:creationId xmlns:a16="http://schemas.microsoft.com/office/drawing/2014/main" id="{A7DD8508-4BBB-4172-9C32-4A1ACCB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19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A8B3C7"/>
                </a:solidFill>
              </a:defRPr>
            </a:defPPr>
            <a:lvl1pPr algn="l">
              <a:defRPr sz="1050" b="0">
                <a:solidFill>
                  <a:srgbClr val="A8B3C7"/>
                </a:solidFill>
              </a:defRPr>
            </a:lvl1pPr>
            <a:lvl2pPr algn="l">
              <a:defRPr sz="1050" b="0">
                <a:solidFill>
                  <a:srgbClr val="A8B3C7"/>
                </a:solidFill>
              </a:defRPr>
            </a:lvl2pPr>
            <a:lvl3pPr algn="l">
              <a:defRPr sz="1050" b="0">
                <a:solidFill>
                  <a:srgbClr val="A8B3C7"/>
                </a:solidFill>
              </a:defRPr>
            </a:lvl3pPr>
            <a:lvl4pPr algn="l">
              <a:defRPr sz="1050" b="0">
                <a:solidFill>
                  <a:srgbClr val="A8B3C7"/>
                </a:solidFill>
              </a:defRPr>
            </a:lvl4pPr>
            <a:lvl5pPr algn="l">
              <a:defRPr sz="1050" b="0">
                <a:solidFill>
                  <a:srgbClr val="A8B3C7"/>
                </a:solidFill>
              </a:defRPr>
            </a:lvl5pPr>
            <a:lvl6pPr algn="l">
              <a:defRPr sz="1050" b="0">
                <a:solidFill>
                  <a:srgbClr val="A8B3C7"/>
                </a:solidFill>
              </a:defRPr>
            </a:lvl6pPr>
            <a:lvl7pPr algn="l">
              <a:defRPr sz="1050" b="0">
                <a:solidFill>
                  <a:srgbClr val="A8B3C7"/>
                </a:solidFill>
              </a:defRPr>
            </a:lvl7pPr>
            <a:lvl8pPr algn="l">
              <a:defRPr sz="1050" b="0">
                <a:solidFill>
                  <a:srgbClr val="A8B3C7"/>
                </a:solidFill>
              </a:defRPr>
            </a:lvl8pPr>
            <a:lvl9pPr algn="l">
              <a:defRPr sz="1050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8B3C7"/>
                </a:solidFill>
              </a:defRPr>
            </a:pPr>
            <a:r>
              <a:rPr sz="1050" b="0">
                <a:solidFill>
                  <a:srgbClr val="A8B3C7"/>
                </a:solidFill>
              </a:rPr>
              <a:t>Clean, normalize, validate</a:t>
            </a:r>
          </a:p>
        </p:txBody>
      </p:sp>
      <p:sp>
        <p:nvSpPr>
          <p:cNvPr id="19" name="step-03">
            <a:extLst xmlns:a="http://schemas.openxmlformats.org/drawingml/2006/main">
              <a:ext uri="{FF2B5EF4-FFF2-40B4-BE49-F238E27FC236}">
                <a16:creationId xmlns:a16="http://schemas.microsoft.com/office/drawing/2014/main" id="{9D353A53-20AD-4040-BBA7-CEC18ECE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5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03</a:t>
            </a:r>
          </a:p>
        </p:txBody>
      </p:sp>
      <p:sp>
        <p:nvSpPr>
          <p:cNvPr id="20" name="step-label-03">
            <a:extLst xmlns:a="http://schemas.openxmlformats.org/drawingml/2006/main">
              <a:ext uri="{FF2B5EF4-FFF2-40B4-BE49-F238E27FC236}">
                <a16:creationId xmlns:a16="http://schemas.microsoft.com/office/drawing/2014/main" id="{ECAC783F-7061-4E1B-AE83-13C2F80D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8FAFC"/>
                </a:solidFill>
              </a:defRPr>
            </a:defPPr>
            <a:lvl1pPr algn="l">
              <a:defRPr sz="1275" b="1">
                <a:solidFill>
                  <a:srgbClr val="F8FAFC"/>
                </a:solidFill>
              </a:defRPr>
            </a:lvl1pPr>
            <a:lvl2pPr algn="l">
              <a:defRPr sz="1275" b="1">
                <a:solidFill>
                  <a:srgbClr val="F8FAFC"/>
                </a:solidFill>
              </a:defRPr>
            </a:lvl2pPr>
            <a:lvl3pPr algn="l">
              <a:defRPr sz="1275" b="1">
                <a:solidFill>
                  <a:srgbClr val="F8FAFC"/>
                </a:solidFill>
              </a:defRPr>
            </a:lvl3pPr>
            <a:lvl4pPr algn="l">
              <a:defRPr sz="1275" b="1">
                <a:solidFill>
                  <a:srgbClr val="F8FAFC"/>
                </a:solidFill>
              </a:defRPr>
            </a:lvl4pPr>
            <a:lvl5pPr algn="l">
              <a:defRPr sz="1275" b="1">
                <a:solidFill>
                  <a:srgbClr val="F8FAFC"/>
                </a:solidFill>
              </a:defRPr>
            </a:lvl5pPr>
            <a:lvl6pPr algn="l">
              <a:defRPr sz="1275" b="1">
                <a:solidFill>
                  <a:srgbClr val="F8FAFC"/>
                </a:solidFill>
              </a:defRPr>
            </a:lvl6pPr>
            <a:lvl7pPr algn="l">
              <a:defRPr sz="1275" b="1">
                <a:solidFill>
                  <a:srgbClr val="F8FAFC"/>
                </a:solidFill>
              </a:defRPr>
            </a:lvl7pPr>
            <a:lvl8pPr algn="l">
              <a:defRPr sz="1275" b="1">
                <a:solidFill>
                  <a:srgbClr val="F8FAFC"/>
                </a:solidFill>
              </a:defRPr>
            </a:lvl8pPr>
            <a:lvl9pPr algn="l">
              <a:defRPr sz="127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AI</a:t>
            </a:r>
          </a:p>
        </p:txBody>
      </p:sp>
      <p:sp>
        <p:nvSpPr>
          <p:cNvPr id="21" name="step-detail-03">
            <a:extLst xmlns:a="http://schemas.openxmlformats.org/drawingml/2006/main">
              <a:ext uri="{FF2B5EF4-FFF2-40B4-BE49-F238E27FC236}">
                <a16:creationId xmlns:a16="http://schemas.microsoft.com/office/drawing/2014/main" id="{04C55F1A-0624-43C0-8748-07FA9AF9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576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A8B3C7"/>
                </a:solidFill>
              </a:defRPr>
            </a:defPPr>
            <a:lvl1pPr algn="l">
              <a:defRPr sz="1050" b="0">
                <a:solidFill>
                  <a:srgbClr val="A8B3C7"/>
                </a:solidFill>
              </a:defRPr>
            </a:lvl1pPr>
            <a:lvl2pPr algn="l">
              <a:defRPr sz="1050" b="0">
                <a:solidFill>
                  <a:srgbClr val="A8B3C7"/>
                </a:solidFill>
              </a:defRPr>
            </a:lvl2pPr>
            <a:lvl3pPr algn="l">
              <a:defRPr sz="1050" b="0">
                <a:solidFill>
                  <a:srgbClr val="A8B3C7"/>
                </a:solidFill>
              </a:defRPr>
            </a:lvl3pPr>
            <a:lvl4pPr algn="l">
              <a:defRPr sz="1050" b="0">
                <a:solidFill>
                  <a:srgbClr val="A8B3C7"/>
                </a:solidFill>
              </a:defRPr>
            </a:lvl4pPr>
            <a:lvl5pPr algn="l">
              <a:defRPr sz="1050" b="0">
                <a:solidFill>
                  <a:srgbClr val="A8B3C7"/>
                </a:solidFill>
              </a:defRPr>
            </a:lvl5pPr>
            <a:lvl6pPr algn="l">
              <a:defRPr sz="1050" b="0">
                <a:solidFill>
                  <a:srgbClr val="A8B3C7"/>
                </a:solidFill>
              </a:defRPr>
            </a:lvl6pPr>
            <a:lvl7pPr algn="l">
              <a:defRPr sz="1050" b="0">
                <a:solidFill>
                  <a:srgbClr val="A8B3C7"/>
                </a:solidFill>
              </a:defRPr>
            </a:lvl7pPr>
            <a:lvl8pPr algn="l">
              <a:defRPr sz="1050" b="0">
                <a:solidFill>
                  <a:srgbClr val="A8B3C7"/>
                </a:solidFill>
              </a:defRPr>
            </a:lvl8pPr>
            <a:lvl9pPr algn="l">
              <a:defRPr sz="1050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8B3C7"/>
                </a:solidFill>
              </a:defRPr>
            </a:pPr>
            <a:r>
              <a:rPr sz="1050" b="0">
                <a:solidFill>
                  <a:srgbClr val="A8B3C7"/>
                </a:solidFill>
              </a:rPr>
              <a:t>Cluster, summarize, score</a:t>
            </a:r>
          </a:p>
        </p:txBody>
      </p:sp>
      <p:sp>
        <p:nvSpPr>
          <p:cNvPr id="22" name="step-04">
            <a:extLst xmlns:a="http://schemas.openxmlformats.org/drawingml/2006/main">
              <a:ext uri="{FF2B5EF4-FFF2-40B4-BE49-F238E27FC236}">
                <a16:creationId xmlns:a16="http://schemas.microsoft.com/office/drawing/2014/main" id="{B53CC1B3-68B1-453A-9EB0-B8EA488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95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04</a:t>
            </a:r>
          </a:p>
        </p:txBody>
      </p:sp>
      <p:sp>
        <p:nvSpPr>
          <p:cNvPr id="23" name="step-label-04">
            <a:extLst xmlns:a="http://schemas.openxmlformats.org/drawingml/2006/main">
              <a:ext uri="{FF2B5EF4-FFF2-40B4-BE49-F238E27FC236}">
                <a16:creationId xmlns:a16="http://schemas.microsoft.com/office/drawing/2014/main" id="{27F0594B-B451-41C3-94AE-5B6A79B7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8FAFC"/>
                </a:solidFill>
              </a:defRPr>
            </a:defPPr>
            <a:lvl1pPr algn="l">
              <a:defRPr sz="1275" b="1">
                <a:solidFill>
                  <a:srgbClr val="F8FAFC"/>
                </a:solidFill>
              </a:defRPr>
            </a:lvl1pPr>
            <a:lvl2pPr algn="l">
              <a:defRPr sz="1275" b="1">
                <a:solidFill>
                  <a:srgbClr val="F8FAFC"/>
                </a:solidFill>
              </a:defRPr>
            </a:lvl2pPr>
            <a:lvl3pPr algn="l">
              <a:defRPr sz="1275" b="1">
                <a:solidFill>
                  <a:srgbClr val="F8FAFC"/>
                </a:solidFill>
              </a:defRPr>
            </a:lvl3pPr>
            <a:lvl4pPr algn="l">
              <a:defRPr sz="1275" b="1">
                <a:solidFill>
                  <a:srgbClr val="F8FAFC"/>
                </a:solidFill>
              </a:defRPr>
            </a:lvl4pPr>
            <a:lvl5pPr algn="l">
              <a:defRPr sz="1275" b="1">
                <a:solidFill>
                  <a:srgbClr val="F8FAFC"/>
                </a:solidFill>
              </a:defRPr>
            </a:lvl5pPr>
            <a:lvl6pPr algn="l">
              <a:defRPr sz="1275" b="1">
                <a:solidFill>
                  <a:srgbClr val="F8FAFC"/>
                </a:solidFill>
              </a:defRPr>
            </a:lvl6pPr>
            <a:lvl7pPr algn="l">
              <a:defRPr sz="1275" b="1">
                <a:solidFill>
                  <a:srgbClr val="F8FAFC"/>
                </a:solidFill>
              </a:defRPr>
            </a:lvl7pPr>
            <a:lvl8pPr algn="l">
              <a:defRPr sz="1275" b="1">
                <a:solidFill>
                  <a:srgbClr val="F8FAFC"/>
                </a:solidFill>
              </a:defRPr>
            </a:lvl8pPr>
            <a:lvl9pPr algn="l">
              <a:defRPr sz="127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Dashboard</a:t>
            </a:r>
          </a:p>
        </p:txBody>
      </p:sp>
      <p:sp>
        <p:nvSpPr>
          <p:cNvPr id="24" name="step-detail-04">
            <a:extLst xmlns:a="http://schemas.openxmlformats.org/drawingml/2006/main">
              <a:ext uri="{FF2B5EF4-FFF2-40B4-BE49-F238E27FC236}">
                <a16:creationId xmlns:a16="http://schemas.microsoft.com/office/drawing/2014/main" id="{EA68D138-906B-447D-9AE5-886FEFA0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95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A8B3C7"/>
                </a:solidFill>
              </a:defRPr>
            </a:defPPr>
            <a:lvl1pPr algn="l">
              <a:defRPr sz="1050" b="0">
                <a:solidFill>
                  <a:srgbClr val="A8B3C7"/>
                </a:solidFill>
              </a:defRPr>
            </a:lvl1pPr>
            <a:lvl2pPr algn="l">
              <a:defRPr sz="1050" b="0">
                <a:solidFill>
                  <a:srgbClr val="A8B3C7"/>
                </a:solidFill>
              </a:defRPr>
            </a:lvl2pPr>
            <a:lvl3pPr algn="l">
              <a:defRPr sz="1050" b="0">
                <a:solidFill>
                  <a:srgbClr val="A8B3C7"/>
                </a:solidFill>
              </a:defRPr>
            </a:lvl3pPr>
            <a:lvl4pPr algn="l">
              <a:defRPr sz="1050" b="0">
                <a:solidFill>
                  <a:srgbClr val="A8B3C7"/>
                </a:solidFill>
              </a:defRPr>
            </a:lvl4pPr>
            <a:lvl5pPr algn="l">
              <a:defRPr sz="1050" b="0">
                <a:solidFill>
                  <a:srgbClr val="A8B3C7"/>
                </a:solidFill>
              </a:defRPr>
            </a:lvl5pPr>
            <a:lvl6pPr algn="l">
              <a:defRPr sz="1050" b="0">
                <a:solidFill>
                  <a:srgbClr val="A8B3C7"/>
                </a:solidFill>
              </a:defRPr>
            </a:lvl6pPr>
            <a:lvl7pPr algn="l">
              <a:defRPr sz="1050" b="0">
                <a:solidFill>
                  <a:srgbClr val="A8B3C7"/>
                </a:solidFill>
              </a:defRPr>
            </a:lvl7pPr>
            <a:lvl8pPr algn="l">
              <a:defRPr sz="1050" b="0">
                <a:solidFill>
                  <a:srgbClr val="A8B3C7"/>
                </a:solidFill>
              </a:defRPr>
            </a:lvl8pPr>
            <a:lvl9pPr algn="l">
              <a:defRPr sz="1050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8B3C7"/>
                </a:solidFill>
              </a:defRPr>
            </a:pPr>
            <a:r>
              <a:rPr sz="1050" b="0">
                <a:solidFill>
                  <a:srgbClr val="A8B3C7"/>
                </a:solidFill>
              </a:rPr>
              <a:t>Ranked themes for review</a:t>
            </a:r>
          </a:p>
        </p:txBody>
      </p:sp>
      <p:sp>
        <p:nvSpPr>
          <p:cNvPr id="25" name="evidence">
            <a:extLst xmlns:a="http://schemas.openxmlformats.org/drawingml/2006/main">
              <a:ext uri="{FF2B5EF4-FFF2-40B4-BE49-F238E27FC236}">
                <a16:creationId xmlns:a16="http://schemas.microsoft.com/office/drawing/2014/main" id="{EABAC0E0-3222-4C8A-8EAD-0A74B6DC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81575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DDE5F0"/>
                </a:solidFill>
              </a:defRPr>
            </a:defPPr>
            <a:lvl1pPr algn="l">
              <a:defRPr sz="1050" b="0">
                <a:solidFill>
                  <a:srgbClr val="DDE5F0"/>
                </a:solidFill>
              </a:defRPr>
            </a:lvl1pPr>
            <a:lvl2pPr algn="l">
              <a:defRPr sz="1050" b="0">
                <a:solidFill>
                  <a:srgbClr val="DDE5F0"/>
                </a:solidFill>
              </a:defRPr>
            </a:lvl2pPr>
            <a:lvl3pPr algn="l">
              <a:defRPr sz="1050" b="0">
                <a:solidFill>
                  <a:srgbClr val="DDE5F0"/>
                </a:solidFill>
              </a:defRPr>
            </a:lvl3pPr>
            <a:lvl4pPr algn="l">
              <a:defRPr sz="1050" b="0">
                <a:solidFill>
                  <a:srgbClr val="DDE5F0"/>
                </a:solidFill>
              </a:defRPr>
            </a:lvl4pPr>
            <a:lvl5pPr algn="l">
              <a:defRPr sz="1050" b="0">
                <a:solidFill>
                  <a:srgbClr val="DDE5F0"/>
                </a:solidFill>
              </a:defRPr>
            </a:lvl5pPr>
            <a:lvl6pPr algn="l">
              <a:defRPr sz="1050" b="0">
                <a:solidFill>
                  <a:srgbClr val="DDE5F0"/>
                </a:solidFill>
              </a:defRPr>
            </a:lvl6pPr>
            <a:lvl7pPr algn="l">
              <a:defRPr sz="1050" b="0">
                <a:solidFill>
                  <a:srgbClr val="DDE5F0"/>
                </a:solidFill>
              </a:defRPr>
            </a:lvl7pPr>
            <a:lvl8pPr algn="l">
              <a:defRPr sz="1050" b="0">
                <a:solidFill>
                  <a:srgbClr val="DDE5F0"/>
                </a:solidFill>
              </a:defRPr>
            </a:lvl8pPr>
            <a:lvl9pPr algn="l">
              <a:defRPr sz="1050" b="0">
                <a:solidFill>
                  <a:srgbClr val="DDE5F0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DE5F0"/>
                </a:solidFill>
              </a:defRPr>
            </a:pPr>
            <a:r>
              <a:rPr sz="1050" b="0">
                <a:solidFill>
                  <a:srgbClr val="DDE5F0"/>
                </a:solidFill>
              </a:rPr>
              <a:t>Evidence: every feedback ID must appear exactly once. Invalid service responses are rejected, and raw submissions survive downstream failures.</a:t>
            </a:r>
          </a:p>
        </p:txBody>
      </p:sp>
      <p:sp>
        <p:nvSpPr>
          <p:cNvPr id="26" name="who-label">
            <a:extLst xmlns:a="http://schemas.openxmlformats.org/drawingml/2006/main">
              <a:ext uri="{FF2B5EF4-FFF2-40B4-BE49-F238E27FC236}">
                <a16:creationId xmlns:a16="http://schemas.microsoft.com/office/drawing/2014/main" id="{455A5513-7EA0-475B-AB3E-C091CD7B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526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WHO</a:t>
            </a:r>
          </a:p>
        </p:txBody>
      </p:sp>
      <p:sp>
        <p:nvSpPr>
          <p:cNvPr id="27" name="who-copy">
            <a:extLst xmlns:a="http://schemas.openxmlformats.org/drawingml/2006/main">
              <a:ext uri="{FF2B5EF4-FFF2-40B4-BE49-F238E27FC236}">
                <a16:creationId xmlns:a16="http://schemas.microsoft.com/office/drawing/2014/main" id="{2746FD6D-6E7B-40DB-9290-C6FBB20F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885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8FAFC"/>
                </a:solidFill>
              </a:defRPr>
            </a:defPPr>
            <a:lvl1pPr algn="l">
              <a:defRPr sz="1725" b="1">
                <a:solidFill>
                  <a:srgbClr val="F8FAFC"/>
                </a:solidFill>
              </a:defRPr>
            </a:lvl1pPr>
            <a:lvl2pPr algn="l">
              <a:defRPr sz="1725" b="1">
                <a:solidFill>
                  <a:srgbClr val="F8FAFC"/>
                </a:solidFill>
              </a:defRPr>
            </a:lvl2pPr>
            <a:lvl3pPr algn="l">
              <a:defRPr sz="1725" b="1">
                <a:solidFill>
                  <a:srgbClr val="F8FAFC"/>
                </a:solidFill>
              </a:defRPr>
            </a:lvl3pPr>
            <a:lvl4pPr algn="l">
              <a:defRPr sz="1725" b="1">
                <a:solidFill>
                  <a:srgbClr val="F8FAFC"/>
                </a:solidFill>
              </a:defRPr>
            </a:lvl4pPr>
            <a:lvl5pPr algn="l">
              <a:defRPr sz="1725" b="1">
                <a:solidFill>
                  <a:srgbClr val="F8FAFC"/>
                </a:solidFill>
              </a:defRPr>
            </a:lvl5pPr>
            <a:lvl6pPr algn="l">
              <a:defRPr sz="1725" b="1">
                <a:solidFill>
                  <a:srgbClr val="F8FAFC"/>
                </a:solidFill>
              </a:defRPr>
            </a:lvl6pPr>
            <a:lvl7pPr algn="l">
              <a:defRPr sz="1725" b="1">
                <a:solidFill>
                  <a:srgbClr val="F8FAFC"/>
                </a:solidFill>
              </a:defRPr>
            </a:lvl7pPr>
            <a:lvl8pPr algn="l">
              <a:defRPr sz="1725" b="1">
                <a:solidFill>
                  <a:srgbClr val="F8FAFC"/>
                </a:solidFill>
              </a:defRPr>
            </a:lvl8pPr>
            <a:lvl9pPr algn="l">
              <a:defRPr sz="172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Founder-led SaaS teams drowning in scattered customer feedback</a:t>
            </a:r>
          </a:p>
        </p:txBody>
      </p:sp>
      <p:sp>
        <p:nvSpPr>
          <p:cNvPr id="28" name="why-label">
            <a:extLst xmlns:a="http://schemas.openxmlformats.org/drawingml/2006/main">
              <a:ext uri="{FF2B5EF4-FFF2-40B4-BE49-F238E27FC236}">
                <a16:creationId xmlns:a16="http://schemas.microsoft.com/office/drawing/2014/main" id="{8E4BDA31-3F60-4792-B0DA-8CBB89D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99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WHY NOW</a:t>
            </a:r>
          </a:p>
        </p:txBody>
      </p:sp>
      <p:sp>
        <p:nvSpPr>
          <p:cNvPr id="29" name="why-copy">
            <a:extLst xmlns:a="http://schemas.openxmlformats.org/drawingml/2006/main">
              <a:ext uri="{FF2B5EF4-FFF2-40B4-BE49-F238E27FC236}">
                <a16:creationId xmlns:a16="http://schemas.microsoft.com/office/drawing/2014/main" id="{9A592314-9312-4C23-A03B-ED4E40E0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861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</a:defRPr>
            </a:defPPr>
            <a:lvl1pPr algn="l">
              <a:defRPr sz="1350" b="0">
                <a:solidFill>
                  <a:srgbClr val="CBD5E1"/>
                </a:solidFill>
              </a:defRPr>
            </a:lvl1pPr>
            <a:lvl2pPr algn="l">
              <a:defRPr sz="1350" b="0">
                <a:solidFill>
                  <a:srgbClr val="CBD5E1"/>
                </a:solidFill>
              </a:defRPr>
            </a:lvl2pPr>
            <a:lvl3pPr algn="l">
              <a:defRPr sz="1350" b="0">
                <a:solidFill>
                  <a:srgbClr val="CBD5E1"/>
                </a:solidFill>
              </a:defRPr>
            </a:lvl3pPr>
            <a:lvl4pPr algn="l">
              <a:defRPr sz="1350" b="0">
                <a:solidFill>
                  <a:srgbClr val="CBD5E1"/>
                </a:solidFill>
              </a:defRPr>
            </a:lvl4pPr>
            <a:lvl5pPr algn="l">
              <a:defRPr sz="1350" b="0">
                <a:solidFill>
                  <a:srgbClr val="CBD5E1"/>
                </a:solidFill>
              </a:defRPr>
            </a:lvl5pPr>
            <a:lvl6pPr algn="l">
              <a:defRPr sz="1350" b="0">
                <a:solidFill>
                  <a:srgbClr val="CBD5E1"/>
                </a:solidFill>
              </a:defRPr>
            </a:lvl6pPr>
            <a:lvl7pPr algn="l">
              <a:defRPr sz="1350" b="0">
                <a:solidFill>
                  <a:srgbClr val="CBD5E1"/>
                </a:solidFill>
              </a:defRPr>
            </a:lvl7pPr>
            <a:lvl8pPr algn="l">
              <a:defRPr sz="1350" b="0">
                <a:solidFill>
                  <a:srgbClr val="CBD5E1"/>
                </a:solidFill>
              </a:defRPr>
            </a:lvl8pPr>
            <a:lvl9pPr algn="l">
              <a:defRPr sz="135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AI makes analysis affordable. Structured data and explainable scoring make the output usable.</a:t>
            </a:r>
          </a:p>
        </p:txBody>
      </p:sp>
      <p:sp>
        <p:nvSpPr>
          <p:cNvPr id="30" name="gtm-label">
            <a:extLst xmlns:a="http://schemas.openxmlformats.org/drawingml/2006/main">
              <a:ext uri="{FF2B5EF4-FFF2-40B4-BE49-F238E27FC236}">
                <a16:creationId xmlns:a16="http://schemas.microsoft.com/office/drawing/2014/main" id="{5FAD97B9-35A6-48B4-BD09-0EC62C2F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672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FIRST USERS</a:t>
            </a:r>
          </a:p>
        </p:txBody>
      </p:sp>
      <p:sp>
        <p:nvSpPr>
          <p:cNvPr id="31" name="gtm-copy">
            <a:extLst xmlns:a="http://schemas.openxmlformats.org/drawingml/2006/main">
              <a:ext uri="{FF2B5EF4-FFF2-40B4-BE49-F238E27FC236}">
                <a16:creationId xmlns:a16="http://schemas.microsoft.com/office/drawing/2014/main" id="{2AE81241-2091-4A17-B1E1-E801C550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434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</a:defRPr>
            </a:defPPr>
            <a:lvl1pPr algn="l">
              <a:defRPr sz="1350" b="0">
                <a:solidFill>
                  <a:srgbClr val="CBD5E1"/>
                </a:solidFill>
              </a:defRPr>
            </a:lvl1pPr>
            <a:lvl2pPr algn="l">
              <a:defRPr sz="1350" b="0">
                <a:solidFill>
                  <a:srgbClr val="CBD5E1"/>
                </a:solidFill>
              </a:defRPr>
            </a:lvl2pPr>
            <a:lvl3pPr algn="l">
              <a:defRPr sz="1350" b="0">
                <a:solidFill>
                  <a:srgbClr val="CBD5E1"/>
                </a:solidFill>
              </a:defRPr>
            </a:lvl3pPr>
            <a:lvl4pPr algn="l">
              <a:defRPr sz="1350" b="0">
                <a:solidFill>
                  <a:srgbClr val="CBD5E1"/>
                </a:solidFill>
              </a:defRPr>
            </a:lvl4pPr>
            <a:lvl5pPr algn="l">
              <a:defRPr sz="1350" b="0">
                <a:solidFill>
                  <a:srgbClr val="CBD5E1"/>
                </a:solidFill>
              </a:defRPr>
            </a:lvl5pPr>
            <a:lvl6pPr algn="l">
              <a:defRPr sz="1350" b="0">
                <a:solidFill>
                  <a:srgbClr val="CBD5E1"/>
                </a:solidFill>
              </a:defRPr>
            </a:lvl6pPr>
            <a:lvl7pPr algn="l">
              <a:defRPr sz="1350" b="0">
                <a:solidFill>
                  <a:srgbClr val="CBD5E1"/>
                </a:solidFill>
              </a:defRPr>
            </a:lvl7pPr>
            <a:lvl8pPr algn="l">
              <a:defRPr sz="1350" b="0">
                <a:solidFill>
                  <a:srgbClr val="CBD5E1"/>
                </a:solidFill>
              </a:defRPr>
            </a:lvl8pPr>
            <a:lvl9pPr algn="l">
              <a:defRPr sz="135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Recruit 5 SaaS founders through accelerators and founder communities. Import their latest feedback, then run weekly review sessions.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862162-4DE1-4945-936F-4F99AA6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3853"/>
          </a:solidFill>
          <a:ln xmlns:a="http://schemas.openxmlformats.org/drawingml/2006/main" w="9525">
            <a:solidFill>
              <a:srgbClr val="263853"/>
            </a:solidFill>
            <a:prstDash val="solid"/>
          </a:ln>
        </p:spPr>
      </p:sp>
      <p:sp>
        <p:nvSpPr>
          <p:cNvPr id="33" name="pitch-line">
            <a:extLst xmlns:a="http://schemas.openxmlformats.org/drawingml/2006/main">
              <a:ext uri="{FF2B5EF4-FFF2-40B4-BE49-F238E27FC236}">
                <a16:creationId xmlns:a16="http://schemas.microsoft.com/office/drawing/2014/main" id="{5ACD7933-5872-49E1-BB2B-F76B2ADD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8FAFC"/>
                </a:solidFill>
              </a:defRPr>
            </a:defPPr>
            <a:lvl1pPr algn="l">
              <a:defRPr sz="1650" b="1">
                <a:solidFill>
                  <a:srgbClr val="F8FAFC"/>
                </a:solidFill>
              </a:defRPr>
            </a:lvl1pPr>
            <a:lvl2pPr algn="l">
              <a:defRPr sz="1650" b="1">
                <a:solidFill>
                  <a:srgbClr val="F8FAFC"/>
                </a:solidFill>
              </a:defRPr>
            </a:lvl2pPr>
            <a:lvl3pPr algn="l">
              <a:defRPr sz="1650" b="1">
                <a:solidFill>
                  <a:srgbClr val="F8FAFC"/>
                </a:solidFill>
              </a:defRPr>
            </a:lvl3pPr>
            <a:lvl4pPr algn="l">
              <a:defRPr sz="1650" b="1">
                <a:solidFill>
                  <a:srgbClr val="F8FAFC"/>
                </a:solidFill>
              </a:defRPr>
            </a:lvl4pPr>
            <a:lvl5pPr algn="l">
              <a:defRPr sz="1650" b="1">
                <a:solidFill>
                  <a:srgbClr val="F8FAFC"/>
                </a:solidFill>
              </a:defRPr>
            </a:lvl5pPr>
            <a:lvl6pPr algn="l">
              <a:defRPr sz="1650" b="1">
                <a:solidFill>
                  <a:srgbClr val="F8FAFC"/>
                </a:solidFill>
              </a:defRPr>
            </a:lvl6pPr>
            <a:lvl7pPr algn="l">
              <a:defRPr sz="1650" b="1">
                <a:solidFill>
                  <a:srgbClr val="F8FAFC"/>
                </a:solidFill>
              </a:defRPr>
            </a:lvl7pPr>
            <a:lvl8pPr algn="l">
              <a:defRPr sz="1650" b="1">
                <a:solidFill>
                  <a:srgbClr val="F8FAFC"/>
                </a:solidFill>
              </a:defRPr>
            </a:lvl8pPr>
            <a:lvl9pPr algn="l">
              <a:defRPr sz="16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Foxhound turns raw customer feedback into clear, prioritized insights founders can act on.</a:t>
            </a:r>
          </a:p>
        </p:txBody>
      </p:sp>
      <p:sp>
        <p:nvSpPr>
          <p:cNvPr id="34" name="disclosure">
            <a:extLst xmlns:a="http://schemas.openxmlformats.org/drawingml/2006/main">
              <a:ext uri="{FF2B5EF4-FFF2-40B4-BE49-F238E27FC236}">
                <a16:creationId xmlns:a16="http://schemas.microsoft.com/office/drawing/2014/main" id="{C3A5C6CB-2BFE-47D3-B71C-80BE35E1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15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718096"/>
                </a:solidFill>
              </a:defRPr>
            </a:defPPr>
            <a:lvl1pPr algn="r">
              <a:defRPr sz="900" b="0">
                <a:solidFill>
                  <a:srgbClr val="718096"/>
                </a:solidFill>
              </a:defRPr>
            </a:lvl1pPr>
            <a:lvl2pPr algn="r">
              <a:defRPr sz="900" b="0">
                <a:solidFill>
                  <a:srgbClr val="718096"/>
                </a:solidFill>
              </a:defRPr>
            </a:lvl2pPr>
            <a:lvl3pPr algn="r">
              <a:defRPr sz="900" b="0">
                <a:solidFill>
                  <a:srgbClr val="718096"/>
                </a:solidFill>
              </a:defRPr>
            </a:lvl3pPr>
            <a:lvl4pPr algn="r">
              <a:defRPr sz="900" b="0">
                <a:solidFill>
                  <a:srgbClr val="718096"/>
                </a:solidFill>
              </a:defRPr>
            </a:lvl4pPr>
            <a:lvl5pPr algn="r">
              <a:defRPr sz="900" b="0">
                <a:solidFill>
                  <a:srgbClr val="718096"/>
                </a:solidFill>
              </a:defRPr>
            </a:lvl5pPr>
            <a:lvl6pPr algn="r">
              <a:defRPr sz="900" b="0">
                <a:solidFill>
                  <a:srgbClr val="718096"/>
                </a:solidFill>
              </a:defRPr>
            </a:lvl6pPr>
            <a:lvl7pPr algn="r">
              <a:defRPr sz="900" b="0">
                <a:solidFill>
                  <a:srgbClr val="718096"/>
                </a:solidFill>
              </a:defRPr>
            </a:lvl7pPr>
            <a:lvl8pPr algn="r">
              <a:defRPr sz="900" b="0">
                <a:solidFill>
                  <a:srgbClr val="718096"/>
                </a:solidFill>
              </a:defRPr>
            </a:lvl8pPr>
            <a:lvl9pPr algn="r">
              <a:defRPr sz="900" b="0">
                <a:solidFill>
                  <a:srgbClr val="718096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Go-to-market plan is proposed</a:t>
            </a:r>
          </a:p>
        </p:txBody>
      </p:sp>
    </p:spTree>
    <p:extLst>
      <p:ext uri="{BB962C8B-B14F-4D97-AF65-F5344CB8AC3E}">
        <p14:creationId xmlns:p14="http://schemas.microsoft.com/office/powerpoint/2010/main" val="2063819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2026-10-22T13:29:24.8540000Z</dcterms:created>
  <dcterms:modified xsi:type="dcterms:W3CDTF">2026-10-22T13:29:24.8540000Z</dcterms:modified>
</coreProperties>
</file>